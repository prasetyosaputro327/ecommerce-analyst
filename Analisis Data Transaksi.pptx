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Raleway"/>
      <p:regular r:id="rId21"/>
      <p:bold r:id="rId22"/>
      <p:italic r:id="rId23"/>
      <p:boldItalic r:id="rId24"/>
    </p:embeddedFont>
    <p:embeddedFont>
      <p:font typeface="Quattrocento Sans"/>
      <p:regular r:id="rId25"/>
      <p:bold r:id="rId26"/>
      <p:italic r:id="rId27"/>
      <p:boldItalic r:id="rId28"/>
    </p:embeddedFont>
    <p:embeddedFont>
      <p:font typeface="Oswald"/>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1" roundtripDataSignature="AMtx7miv34haWM/GY57I3/fbio985vXE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QuattrocentoSans-bold.fntdata"/><Relationship Id="rId25" Type="http://schemas.openxmlformats.org/officeDocument/2006/relationships/font" Target="fonts/QuattrocentoSans-regular.fntdata"/><Relationship Id="rId28" Type="http://schemas.openxmlformats.org/officeDocument/2006/relationships/font" Target="fonts/QuattrocentoSans-boldItalic.fntdata"/><Relationship Id="rId27" Type="http://schemas.openxmlformats.org/officeDocument/2006/relationships/font" Target="fonts/QuattrocentoSa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swald-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Oswa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19" name="Google Shape;11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83bff2ae30_0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83bff2ae30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83bff2ae30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83bff2ae30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a442beea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8a442beea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g38a442beea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Georgia"/>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Font typeface="Quattrocento Sans"/>
              <a:buNone/>
              <a:defRPr sz="2400"/>
            </a:lvl1pPr>
            <a:lvl2pPr lvl="1" algn="ctr">
              <a:lnSpc>
                <a:spcPct val="90000"/>
              </a:lnSpc>
              <a:spcBef>
                <a:spcPts val="500"/>
              </a:spcBef>
              <a:spcAft>
                <a:spcPts val="0"/>
              </a:spcAft>
              <a:buClr>
                <a:schemeClr val="dk1"/>
              </a:buClr>
              <a:buSzPts val="2000"/>
              <a:buFont typeface="Quattrocento Sans"/>
              <a:buNone/>
              <a:defRPr sz="2000"/>
            </a:lvl2pPr>
            <a:lvl3pPr lvl="2" algn="ctr">
              <a:lnSpc>
                <a:spcPct val="90000"/>
              </a:lnSpc>
              <a:spcBef>
                <a:spcPts val="500"/>
              </a:spcBef>
              <a:spcAft>
                <a:spcPts val="0"/>
              </a:spcAft>
              <a:buClr>
                <a:schemeClr val="dk1"/>
              </a:buClr>
              <a:buSzPts val="1800"/>
              <a:buFont typeface="Quattrocento Sans"/>
              <a:buNone/>
              <a:defRPr sz="1800"/>
            </a:lvl3pPr>
            <a:lvl4pPr lvl="3" algn="ctr">
              <a:lnSpc>
                <a:spcPct val="90000"/>
              </a:lnSpc>
              <a:spcBef>
                <a:spcPts val="500"/>
              </a:spcBef>
              <a:spcAft>
                <a:spcPts val="0"/>
              </a:spcAft>
              <a:buClr>
                <a:schemeClr val="dk1"/>
              </a:buClr>
              <a:buSzPts val="1600"/>
              <a:buFont typeface="Quattrocento Sans"/>
              <a:buNone/>
              <a:defRPr sz="1600"/>
            </a:lvl4pPr>
            <a:lvl5pPr lvl="4" algn="ctr">
              <a:lnSpc>
                <a:spcPct val="90000"/>
              </a:lnSpc>
              <a:spcBef>
                <a:spcPts val="500"/>
              </a:spcBef>
              <a:spcAft>
                <a:spcPts val="0"/>
              </a:spcAft>
              <a:buClr>
                <a:schemeClr val="dk1"/>
              </a:buClr>
              <a:buSzPts val="1600"/>
              <a:buFont typeface="Quattrocento Sans"/>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27"/>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27"/>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28"/>
          <p:cNvSpPr/>
          <p:nvPr/>
        </p:nvSpPr>
        <p:spPr>
          <a:xfrm>
            <a:off x="11315700" y="6356350"/>
            <a:ext cx="418353" cy="365125"/>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 name="Google Shape;22;p28"/>
          <p:cNvSpPr/>
          <p:nvPr/>
        </p:nvSpPr>
        <p:spPr>
          <a:xfrm>
            <a:off x="11379200" y="6356350"/>
            <a:ext cx="418353" cy="36512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 name="Google Shape;23;p28"/>
          <p:cNvSpPr txBox="1"/>
          <p:nvPr>
            <p:ph type="title"/>
          </p:nvPr>
        </p:nvSpPr>
        <p:spPr>
          <a:xfrm>
            <a:off x="394447" y="365126"/>
            <a:ext cx="11403106" cy="7913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8"/>
          <p:cNvSpPr txBox="1"/>
          <p:nvPr>
            <p:ph idx="1" type="body"/>
          </p:nvPr>
        </p:nvSpPr>
        <p:spPr>
          <a:xfrm>
            <a:off x="394447" y="1304365"/>
            <a:ext cx="11403106" cy="487259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28"/>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8"/>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8"/>
          <p:cNvSpPr txBox="1"/>
          <p:nvPr>
            <p:ph idx="12" type="sldNum"/>
          </p:nvPr>
        </p:nvSpPr>
        <p:spPr>
          <a:xfrm>
            <a:off x="11445505" y="6414220"/>
            <a:ext cx="285741" cy="249385"/>
          </a:xfrm>
          <a:prstGeom prst="rect">
            <a:avLst/>
          </a:prstGeom>
          <a:noFill/>
          <a:ln>
            <a:noFill/>
          </a:ln>
        </p:spPr>
        <p:txBody>
          <a:bodyPr anchorCtr="0" anchor="ctr" bIns="0" lIns="0" spcFirstLastPara="1" rIns="0" wrap="square" tIns="0">
            <a:noAutofit/>
          </a:bodyPr>
          <a:lstStyle>
            <a:lvl1pPr indent="0" lvl="0" marL="0" algn="ctr">
              <a:spcBef>
                <a:spcPts val="0"/>
              </a:spcBef>
              <a:buNone/>
              <a:defRPr sz="1200">
                <a:solidFill>
                  <a:schemeClr val="lt1"/>
                </a:solidFill>
                <a:latin typeface="Calibri"/>
                <a:ea typeface="Calibri"/>
                <a:cs typeface="Calibri"/>
                <a:sym typeface="Calibri"/>
              </a:defRPr>
            </a:lvl1pPr>
            <a:lvl2pPr indent="0" lvl="1" marL="0" algn="ctr">
              <a:spcBef>
                <a:spcPts val="0"/>
              </a:spcBef>
              <a:buNone/>
              <a:defRPr sz="1200">
                <a:solidFill>
                  <a:schemeClr val="lt1"/>
                </a:solidFill>
                <a:latin typeface="Calibri"/>
                <a:ea typeface="Calibri"/>
                <a:cs typeface="Calibri"/>
                <a:sym typeface="Calibri"/>
              </a:defRPr>
            </a:lvl2pPr>
            <a:lvl3pPr indent="0" lvl="2" marL="0" algn="ctr">
              <a:spcBef>
                <a:spcPts val="0"/>
              </a:spcBef>
              <a:buNone/>
              <a:defRPr sz="1200">
                <a:solidFill>
                  <a:schemeClr val="lt1"/>
                </a:solidFill>
                <a:latin typeface="Calibri"/>
                <a:ea typeface="Calibri"/>
                <a:cs typeface="Calibri"/>
                <a:sym typeface="Calibri"/>
              </a:defRPr>
            </a:lvl3pPr>
            <a:lvl4pPr indent="0" lvl="3" marL="0" algn="ctr">
              <a:spcBef>
                <a:spcPts val="0"/>
              </a:spcBef>
              <a:buNone/>
              <a:defRPr sz="1200">
                <a:solidFill>
                  <a:schemeClr val="lt1"/>
                </a:solidFill>
                <a:latin typeface="Calibri"/>
                <a:ea typeface="Calibri"/>
                <a:cs typeface="Calibri"/>
                <a:sym typeface="Calibri"/>
              </a:defRPr>
            </a:lvl4pPr>
            <a:lvl5pPr indent="0" lvl="4" marL="0" algn="ctr">
              <a:spcBef>
                <a:spcPts val="0"/>
              </a:spcBef>
              <a:buNone/>
              <a:defRPr sz="1200">
                <a:solidFill>
                  <a:schemeClr val="lt1"/>
                </a:solidFill>
                <a:latin typeface="Calibri"/>
                <a:ea typeface="Calibri"/>
                <a:cs typeface="Calibri"/>
                <a:sym typeface="Calibri"/>
              </a:defRPr>
            </a:lvl5pPr>
            <a:lvl6pPr indent="0" lvl="5" marL="0" algn="ctr">
              <a:spcBef>
                <a:spcPts val="0"/>
              </a:spcBef>
              <a:buNone/>
              <a:defRPr sz="1200">
                <a:solidFill>
                  <a:schemeClr val="lt1"/>
                </a:solidFill>
                <a:latin typeface="Calibri"/>
                <a:ea typeface="Calibri"/>
                <a:cs typeface="Calibri"/>
                <a:sym typeface="Calibri"/>
              </a:defRPr>
            </a:lvl6pPr>
            <a:lvl7pPr indent="0" lvl="6" marL="0" algn="ctr">
              <a:spcBef>
                <a:spcPts val="0"/>
              </a:spcBef>
              <a:buNone/>
              <a:defRPr sz="1200">
                <a:solidFill>
                  <a:schemeClr val="lt1"/>
                </a:solidFill>
                <a:latin typeface="Calibri"/>
                <a:ea typeface="Calibri"/>
                <a:cs typeface="Calibri"/>
                <a:sym typeface="Calibri"/>
              </a:defRPr>
            </a:lvl7pPr>
            <a:lvl8pPr indent="0" lvl="7" marL="0" algn="ctr">
              <a:spcBef>
                <a:spcPts val="0"/>
              </a:spcBef>
              <a:buNone/>
              <a:defRPr sz="1200">
                <a:solidFill>
                  <a:schemeClr val="lt1"/>
                </a:solidFill>
                <a:latin typeface="Calibri"/>
                <a:ea typeface="Calibri"/>
                <a:cs typeface="Calibri"/>
                <a:sym typeface="Calibri"/>
              </a:defRPr>
            </a:lvl8pPr>
            <a:lvl9pPr indent="0" lvl="8" marL="0" algn="ctr">
              <a:spcBef>
                <a:spcPts val="0"/>
              </a:spcBef>
              <a:buNone/>
              <a:defRPr sz="1200">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29"/>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29"/>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Georgia"/>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Font typeface="Quattrocento Sans"/>
              <a:buNone/>
              <a:defRPr sz="2400">
                <a:solidFill>
                  <a:srgbClr val="888888"/>
                </a:solidFill>
              </a:defRPr>
            </a:lvl1pPr>
            <a:lvl2pPr indent="-228600" lvl="1" marL="914400" algn="l">
              <a:lnSpc>
                <a:spcPct val="90000"/>
              </a:lnSpc>
              <a:spcBef>
                <a:spcPts val="500"/>
              </a:spcBef>
              <a:spcAft>
                <a:spcPts val="0"/>
              </a:spcAft>
              <a:buClr>
                <a:srgbClr val="888888"/>
              </a:buClr>
              <a:buSzPts val="2000"/>
              <a:buFont typeface="Quattrocento Sans"/>
              <a:buNone/>
              <a:defRPr sz="2000">
                <a:solidFill>
                  <a:srgbClr val="888888"/>
                </a:solidFill>
              </a:defRPr>
            </a:lvl2pPr>
            <a:lvl3pPr indent="-228600" lvl="2" marL="1371600" algn="l">
              <a:lnSpc>
                <a:spcPct val="90000"/>
              </a:lnSpc>
              <a:spcBef>
                <a:spcPts val="500"/>
              </a:spcBef>
              <a:spcAft>
                <a:spcPts val="0"/>
              </a:spcAft>
              <a:buClr>
                <a:srgbClr val="888888"/>
              </a:buClr>
              <a:buSzPts val="1800"/>
              <a:buFont typeface="Quattrocento Sans"/>
              <a:buNone/>
              <a:defRPr sz="1800">
                <a:solidFill>
                  <a:srgbClr val="888888"/>
                </a:solidFill>
              </a:defRPr>
            </a:lvl3pPr>
            <a:lvl4pPr indent="-228600" lvl="3" marL="1828800" algn="l">
              <a:lnSpc>
                <a:spcPct val="90000"/>
              </a:lnSpc>
              <a:spcBef>
                <a:spcPts val="500"/>
              </a:spcBef>
              <a:spcAft>
                <a:spcPts val="0"/>
              </a:spcAft>
              <a:buClr>
                <a:srgbClr val="888888"/>
              </a:buClr>
              <a:buSzPts val="1600"/>
              <a:buFont typeface="Quattrocento Sans"/>
              <a:buNone/>
              <a:defRPr sz="1600">
                <a:solidFill>
                  <a:srgbClr val="888888"/>
                </a:solidFill>
              </a:defRPr>
            </a:lvl4pPr>
            <a:lvl5pPr indent="-228600" lvl="4" marL="2286000" algn="l">
              <a:lnSpc>
                <a:spcPct val="90000"/>
              </a:lnSpc>
              <a:spcBef>
                <a:spcPts val="500"/>
              </a:spcBef>
              <a:spcAft>
                <a:spcPts val="0"/>
              </a:spcAft>
              <a:buClr>
                <a:srgbClr val="888888"/>
              </a:buClr>
              <a:buSzPts val="1600"/>
              <a:buFont typeface="Quattrocento Sans"/>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34"/>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6" name="Google Shape;36;p34"/>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4"/>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5"/>
          <p:cNvSpPr txBox="1"/>
          <p:nvPr>
            <p:ph type="title"/>
          </p:nvPr>
        </p:nvSpPr>
        <p:spPr>
          <a:xfrm>
            <a:off x="394447" y="365126"/>
            <a:ext cx="11403106" cy="7913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5"/>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 name="Google Shape;43;p35"/>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5"/>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Quattrocento Sans"/>
              <a:buNone/>
              <a:defRPr b="1" sz="2400"/>
            </a:lvl1pPr>
            <a:lvl2pPr indent="-228600" lvl="1" marL="914400" algn="l">
              <a:lnSpc>
                <a:spcPct val="90000"/>
              </a:lnSpc>
              <a:spcBef>
                <a:spcPts val="500"/>
              </a:spcBef>
              <a:spcAft>
                <a:spcPts val="0"/>
              </a:spcAft>
              <a:buClr>
                <a:schemeClr val="dk1"/>
              </a:buClr>
              <a:buSzPts val="2000"/>
              <a:buFont typeface="Quattrocento Sans"/>
              <a:buNone/>
              <a:defRPr b="1" sz="2000"/>
            </a:lvl2pPr>
            <a:lvl3pPr indent="-228600" lvl="2" marL="1371600" algn="l">
              <a:lnSpc>
                <a:spcPct val="90000"/>
              </a:lnSpc>
              <a:spcBef>
                <a:spcPts val="500"/>
              </a:spcBef>
              <a:spcAft>
                <a:spcPts val="0"/>
              </a:spcAft>
              <a:buClr>
                <a:schemeClr val="dk1"/>
              </a:buClr>
              <a:buSzPts val="1800"/>
              <a:buFont typeface="Quattrocento Sans"/>
              <a:buNone/>
              <a:defRPr b="1" sz="1800"/>
            </a:lvl3pPr>
            <a:lvl4pPr indent="-228600" lvl="3" marL="1828800" algn="l">
              <a:lnSpc>
                <a:spcPct val="90000"/>
              </a:lnSpc>
              <a:spcBef>
                <a:spcPts val="500"/>
              </a:spcBef>
              <a:spcAft>
                <a:spcPts val="0"/>
              </a:spcAft>
              <a:buClr>
                <a:schemeClr val="dk1"/>
              </a:buClr>
              <a:buSzPts val="1600"/>
              <a:buFont typeface="Quattrocento Sans"/>
              <a:buNone/>
              <a:defRPr b="1" sz="1600"/>
            </a:lvl4pPr>
            <a:lvl5pPr indent="-228600" lvl="4" marL="2286000" algn="l">
              <a:lnSpc>
                <a:spcPct val="90000"/>
              </a:lnSpc>
              <a:spcBef>
                <a:spcPts val="500"/>
              </a:spcBef>
              <a:spcAft>
                <a:spcPts val="0"/>
              </a:spcAft>
              <a:buClr>
                <a:schemeClr val="dk1"/>
              </a:buClr>
              <a:buSzPts val="1600"/>
              <a:buFont typeface="Quattrocento Sans"/>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Font typeface="Quattrocento Sans"/>
              <a:buNone/>
              <a:defRPr b="1" sz="2400"/>
            </a:lvl1pPr>
            <a:lvl2pPr indent="-228600" lvl="1" marL="914400" algn="l">
              <a:lnSpc>
                <a:spcPct val="90000"/>
              </a:lnSpc>
              <a:spcBef>
                <a:spcPts val="500"/>
              </a:spcBef>
              <a:spcAft>
                <a:spcPts val="0"/>
              </a:spcAft>
              <a:buClr>
                <a:schemeClr val="dk1"/>
              </a:buClr>
              <a:buSzPts val="2000"/>
              <a:buFont typeface="Quattrocento Sans"/>
              <a:buNone/>
              <a:defRPr b="1" sz="2000"/>
            </a:lvl2pPr>
            <a:lvl3pPr indent="-228600" lvl="2" marL="1371600" algn="l">
              <a:lnSpc>
                <a:spcPct val="90000"/>
              </a:lnSpc>
              <a:spcBef>
                <a:spcPts val="500"/>
              </a:spcBef>
              <a:spcAft>
                <a:spcPts val="0"/>
              </a:spcAft>
              <a:buClr>
                <a:schemeClr val="dk1"/>
              </a:buClr>
              <a:buSzPts val="1800"/>
              <a:buFont typeface="Quattrocento Sans"/>
              <a:buNone/>
              <a:defRPr b="1" sz="1800"/>
            </a:lvl3pPr>
            <a:lvl4pPr indent="-228600" lvl="3" marL="1828800" algn="l">
              <a:lnSpc>
                <a:spcPct val="90000"/>
              </a:lnSpc>
              <a:spcBef>
                <a:spcPts val="500"/>
              </a:spcBef>
              <a:spcAft>
                <a:spcPts val="0"/>
              </a:spcAft>
              <a:buClr>
                <a:schemeClr val="dk1"/>
              </a:buClr>
              <a:buSzPts val="1600"/>
              <a:buFont typeface="Quattrocento Sans"/>
              <a:buNone/>
              <a:defRPr b="1" sz="1600"/>
            </a:lvl4pPr>
            <a:lvl5pPr indent="-228600" lvl="4" marL="2286000" algn="l">
              <a:lnSpc>
                <a:spcPct val="90000"/>
              </a:lnSpc>
              <a:spcBef>
                <a:spcPts val="500"/>
              </a:spcBef>
              <a:spcAft>
                <a:spcPts val="0"/>
              </a:spcAft>
              <a:buClr>
                <a:schemeClr val="dk1"/>
              </a:buClr>
              <a:buSzPts val="1600"/>
              <a:buFont typeface="Quattrocento Sans"/>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6"/>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2" name="Google Shape;52;p36"/>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6"/>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37"/>
          <p:cNvSpPr txBox="1"/>
          <p:nvPr>
            <p:ph type="title"/>
          </p:nvPr>
        </p:nvSpPr>
        <p:spPr>
          <a:xfrm>
            <a:off x="394447" y="365126"/>
            <a:ext cx="11403106" cy="7913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7"/>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37"/>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37"/>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eorgi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3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200"/>
              <a:buFont typeface="Quattrocento Sans"/>
              <a:buNone/>
              <a:defRPr sz="3200"/>
            </a:lvl1pPr>
            <a:lvl2pPr indent="-228600" lvl="1" marL="914400" algn="l">
              <a:lnSpc>
                <a:spcPct val="90000"/>
              </a:lnSpc>
              <a:spcBef>
                <a:spcPts val="500"/>
              </a:spcBef>
              <a:spcAft>
                <a:spcPts val="0"/>
              </a:spcAft>
              <a:buClr>
                <a:schemeClr val="dk1"/>
              </a:buClr>
              <a:buSzPts val="2800"/>
              <a:buFont typeface="Quattrocento Sans"/>
              <a:buNone/>
              <a:defRPr sz="2800"/>
            </a:lvl2pPr>
            <a:lvl3pPr indent="-228600" lvl="2" marL="1371600" algn="l">
              <a:lnSpc>
                <a:spcPct val="90000"/>
              </a:lnSpc>
              <a:spcBef>
                <a:spcPts val="500"/>
              </a:spcBef>
              <a:spcAft>
                <a:spcPts val="0"/>
              </a:spcAft>
              <a:buClr>
                <a:schemeClr val="dk1"/>
              </a:buClr>
              <a:buSzPts val="2400"/>
              <a:buFont typeface="Quattrocento Sans"/>
              <a:buNone/>
              <a:defRPr sz="2400"/>
            </a:lvl3pPr>
            <a:lvl4pPr indent="-228600" lvl="3" marL="1828800" algn="l">
              <a:lnSpc>
                <a:spcPct val="90000"/>
              </a:lnSpc>
              <a:spcBef>
                <a:spcPts val="500"/>
              </a:spcBef>
              <a:spcAft>
                <a:spcPts val="0"/>
              </a:spcAft>
              <a:buClr>
                <a:schemeClr val="dk1"/>
              </a:buClr>
              <a:buSzPts val="2000"/>
              <a:buFont typeface="Quattrocento Sans"/>
              <a:buNone/>
              <a:defRPr sz="2000"/>
            </a:lvl4pPr>
            <a:lvl5pPr indent="-228600" lvl="4" marL="2286000" algn="l">
              <a:lnSpc>
                <a:spcPct val="90000"/>
              </a:lnSpc>
              <a:spcBef>
                <a:spcPts val="500"/>
              </a:spcBef>
              <a:spcAft>
                <a:spcPts val="0"/>
              </a:spcAft>
              <a:buClr>
                <a:schemeClr val="dk1"/>
              </a:buClr>
              <a:buSzPts val="2000"/>
              <a:buFont typeface="Quattrocento Sans"/>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3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Quattrocento Sans"/>
              <a:buNone/>
              <a:defRPr sz="1600"/>
            </a:lvl1pPr>
            <a:lvl2pPr indent="-228600" lvl="1" marL="914400" algn="l">
              <a:lnSpc>
                <a:spcPct val="90000"/>
              </a:lnSpc>
              <a:spcBef>
                <a:spcPts val="500"/>
              </a:spcBef>
              <a:spcAft>
                <a:spcPts val="0"/>
              </a:spcAft>
              <a:buClr>
                <a:schemeClr val="dk1"/>
              </a:buClr>
              <a:buSzPts val="1400"/>
              <a:buFont typeface="Quattrocento Sans"/>
              <a:buNone/>
              <a:defRPr sz="1400"/>
            </a:lvl2pPr>
            <a:lvl3pPr indent="-228600" lvl="2" marL="1371600" algn="l">
              <a:lnSpc>
                <a:spcPct val="90000"/>
              </a:lnSpc>
              <a:spcBef>
                <a:spcPts val="500"/>
              </a:spcBef>
              <a:spcAft>
                <a:spcPts val="0"/>
              </a:spcAft>
              <a:buClr>
                <a:schemeClr val="dk1"/>
              </a:buClr>
              <a:buSzPts val="1200"/>
              <a:buFont typeface="Quattrocento Sans"/>
              <a:buNone/>
              <a:defRPr sz="1200"/>
            </a:lvl3pPr>
            <a:lvl4pPr indent="-228600" lvl="3" marL="1828800" algn="l">
              <a:lnSpc>
                <a:spcPct val="90000"/>
              </a:lnSpc>
              <a:spcBef>
                <a:spcPts val="500"/>
              </a:spcBef>
              <a:spcAft>
                <a:spcPts val="0"/>
              </a:spcAft>
              <a:buClr>
                <a:schemeClr val="dk1"/>
              </a:buClr>
              <a:buSzPts val="1000"/>
              <a:buFont typeface="Quattrocento Sans"/>
              <a:buNone/>
              <a:defRPr sz="1000"/>
            </a:lvl4pPr>
            <a:lvl5pPr indent="-228600" lvl="4" marL="2286000" algn="l">
              <a:lnSpc>
                <a:spcPct val="90000"/>
              </a:lnSpc>
              <a:spcBef>
                <a:spcPts val="500"/>
              </a:spcBef>
              <a:spcAft>
                <a:spcPts val="0"/>
              </a:spcAft>
              <a:buClr>
                <a:schemeClr val="dk1"/>
              </a:buClr>
              <a:buSzPts val="1000"/>
              <a:buFont typeface="Quattrocento Sans"/>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38"/>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4" name="Google Shape;64;p38"/>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8"/>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eorgia"/>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9"/>
          <p:cNvSpPr/>
          <p:nvPr>
            <p:ph idx="2" type="pic"/>
          </p:nvPr>
        </p:nvSpPr>
        <p:spPr>
          <a:xfrm>
            <a:off x="5183188" y="987425"/>
            <a:ext cx="6172200" cy="4873625"/>
          </a:xfrm>
          <a:prstGeom prst="rect">
            <a:avLst/>
          </a:prstGeom>
          <a:noFill/>
          <a:ln>
            <a:noFill/>
          </a:ln>
        </p:spPr>
      </p:sp>
      <p:sp>
        <p:nvSpPr>
          <p:cNvPr id="69" name="Google Shape;69;p3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Font typeface="Quattrocento Sans"/>
              <a:buNone/>
              <a:defRPr sz="1600"/>
            </a:lvl1pPr>
            <a:lvl2pPr indent="-228600" lvl="1" marL="914400" algn="l">
              <a:lnSpc>
                <a:spcPct val="90000"/>
              </a:lnSpc>
              <a:spcBef>
                <a:spcPts val="500"/>
              </a:spcBef>
              <a:spcAft>
                <a:spcPts val="0"/>
              </a:spcAft>
              <a:buClr>
                <a:schemeClr val="dk1"/>
              </a:buClr>
              <a:buSzPts val="1400"/>
              <a:buFont typeface="Quattrocento Sans"/>
              <a:buNone/>
              <a:defRPr sz="1400"/>
            </a:lvl2pPr>
            <a:lvl3pPr indent="-228600" lvl="2" marL="1371600" algn="l">
              <a:lnSpc>
                <a:spcPct val="90000"/>
              </a:lnSpc>
              <a:spcBef>
                <a:spcPts val="500"/>
              </a:spcBef>
              <a:spcAft>
                <a:spcPts val="0"/>
              </a:spcAft>
              <a:buClr>
                <a:schemeClr val="dk1"/>
              </a:buClr>
              <a:buSzPts val="1200"/>
              <a:buFont typeface="Quattrocento Sans"/>
              <a:buNone/>
              <a:defRPr sz="1200"/>
            </a:lvl3pPr>
            <a:lvl4pPr indent="-228600" lvl="3" marL="1828800" algn="l">
              <a:lnSpc>
                <a:spcPct val="90000"/>
              </a:lnSpc>
              <a:spcBef>
                <a:spcPts val="500"/>
              </a:spcBef>
              <a:spcAft>
                <a:spcPts val="0"/>
              </a:spcAft>
              <a:buClr>
                <a:schemeClr val="dk1"/>
              </a:buClr>
              <a:buSzPts val="1000"/>
              <a:buFont typeface="Quattrocento Sans"/>
              <a:buNone/>
              <a:defRPr sz="1000"/>
            </a:lvl4pPr>
            <a:lvl5pPr indent="-228600" lvl="4" marL="2286000" algn="l">
              <a:lnSpc>
                <a:spcPct val="90000"/>
              </a:lnSpc>
              <a:spcBef>
                <a:spcPts val="500"/>
              </a:spcBef>
              <a:spcAft>
                <a:spcPts val="0"/>
              </a:spcAft>
              <a:buClr>
                <a:schemeClr val="dk1"/>
              </a:buClr>
              <a:buSzPts val="1000"/>
              <a:buFont typeface="Quattrocento Sans"/>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39"/>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39"/>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9"/>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40"/>
          <p:cNvSpPr txBox="1"/>
          <p:nvPr>
            <p:ph type="title"/>
          </p:nvPr>
        </p:nvSpPr>
        <p:spPr>
          <a:xfrm>
            <a:off x="394447" y="365126"/>
            <a:ext cx="11403106" cy="7913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40"/>
          <p:cNvSpPr txBox="1"/>
          <p:nvPr>
            <p:ph idx="1" type="body"/>
          </p:nvPr>
        </p:nvSpPr>
        <p:spPr>
          <a:xfrm rot="5400000">
            <a:off x="3659701" y="-1960889"/>
            <a:ext cx="4872598" cy="114031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40"/>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40"/>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0"/>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4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4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a:lvl1pPr>
            <a:lvl2pPr indent="-228600" lvl="1" marL="914400" algn="l">
              <a:lnSpc>
                <a:spcPct val="90000"/>
              </a:lnSpc>
              <a:spcBef>
                <a:spcPts val="500"/>
              </a:spcBef>
              <a:spcAft>
                <a:spcPts val="0"/>
              </a:spcAft>
              <a:buClr>
                <a:schemeClr val="dk1"/>
              </a:buClr>
              <a:buSzPts val="1800"/>
              <a:buNone/>
              <a:defRPr/>
            </a:lvl2pPr>
            <a:lvl3pPr indent="-228600" lvl="2" marL="1371600" algn="l">
              <a:lnSpc>
                <a:spcPct val="90000"/>
              </a:lnSpc>
              <a:spcBef>
                <a:spcPts val="500"/>
              </a:spcBef>
              <a:spcAft>
                <a:spcPts val="0"/>
              </a:spcAft>
              <a:buClr>
                <a:schemeClr val="dk1"/>
              </a:buClr>
              <a:buSzPts val="1800"/>
              <a:buNone/>
              <a:defRPr/>
            </a:lvl3pPr>
            <a:lvl4pPr indent="-228600" lvl="3" marL="1828800" algn="l">
              <a:lnSpc>
                <a:spcPct val="90000"/>
              </a:lnSpc>
              <a:spcBef>
                <a:spcPts val="500"/>
              </a:spcBef>
              <a:spcAft>
                <a:spcPts val="0"/>
              </a:spcAft>
              <a:buClr>
                <a:schemeClr val="dk1"/>
              </a:buClr>
              <a:buSzPts val="1800"/>
              <a:buNone/>
              <a:defRPr/>
            </a:lvl4pPr>
            <a:lvl5pPr indent="-228600" lvl="4" marL="2286000" algn="l">
              <a:lnSpc>
                <a:spcPct val="90000"/>
              </a:lnSpc>
              <a:spcBef>
                <a:spcPts val="50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1"/>
          <p:cNvSpPr txBox="1"/>
          <p:nvPr>
            <p:ph idx="10" type="dt"/>
          </p:nvPr>
        </p:nvSpPr>
        <p:spPr>
          <a:xfrm>
            <a:off x="394447"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41"/>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1"/>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394447" y="365126"/>
            <a:ext cx="11403106" cy="7913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Georgia"/>
              <a:buNone/>
              <a:defRPr b="1" i="0" sz="4400" u="none" cap="none" strike="noStrik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394447" y="1304365"/>
            <a:ext cx="11403106" cy="487259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1"/>
              </a:buClr>
              <a:buSzPts val="2800"/>
              <a:buFont typeface="Quattrocento Sans"/>
              <a:buNone/>
              <a:defRPr b="0" i="0" sz="2800" u="none" cap="none" strike="noStrike">
                <a:solidFill>
                  <a:schemeClr val="dk1"/>
                </a:solidFill>
                <a:latin typeface="Quattrocento Sans"/>
                <a:ea typeface="Quattrocento Sans"/>
                <a:cs typeface="Quattrocento Sans"/>
                <a:sym typeface="Quattrocento Sans"/>
              </a:defRPr>
            </a:lvl1pPr>
            <a:lvl2pPr indent="-228600" lvl="1" marL="914400" marR="0" rtl="0" algn="l">
              <a:lnSpc>
                <a:spcPct val="90000"/>
              </a:lnSpc>
              <a:spcBef>
                <a:spcPts val="500"/>
              </a:spcBef>
              <a:spcAft>
                <a:spcPts val="0"/>
              </a:spcAft>
              <a:buClr>
                <a:schemeClr val="dk1"/>
              </a:buClr>
              <a:buSzPts val="2400"/>
              <a:buFont typeface="Quattrocento Sans"/>
              <a:buNone/>
              <a:defRPr b="0" i="0" sz="2400" u="none" cap="none" strike="noStrike">
                <a:solidFill>
                  <a:schemeClr val="dk1"/>
                </a:solidFill>
                <a:latin typeface="Quattrocento Sans"/>
                <a:ea typeface="Quattrocento Sans"/>
                <a:cs typeface="Quattrocento Sans"/>
                <a:sym typeface="Quattrocento Sans"/>
              </a:defRPr>
            </a:lvl2pPr>
            <a:lvl3pPr indent="-228600" lvl="2" marL="1371600" marR="0" rtl="0" algn="l">
              <a:lnSpc>
                <a:spcPct val="90000"/>
              </a:lnSpc>
              <a:spcBef>
                <a:spcPts val="500"/>
              </a:spcBef>
              <a:spcAft>
                <a:spcPts val="0"/>
              </a:spcAft>
              <a:buClr>
                <a:schemeClr val="dk1"/>
              </a:buClr>
              <a:buSzPts val="2000"/>
              <a:buFont typeface="Quattrocento Sans"/>
              <a:buNone/>
              <a:defRPr b="0" i="0" sz="2000" u="none" cap="none" strike="noStrike">
                <a:solidFill>
                  <a:schemeClr val="dk1"/>
                </a:solidFill>
                <a:latin typeface="Quattrocento Sans"/>
                <a:ea typeface="Quattrocento Sans"/>
                <a:cs typeface="Quattrocento Sans"/>
                <a:sym typeface="Quattrocento Sans"/>
              </a:defRPr>
            </a:lvl3pPr>
            <a:lvl4pPr indent="-228600" lvl="3" marL="1828800" marR="0" rtl="0" algn="l">
              <a:lnSpc>
                <a:spcPct val="90000"/>
              </a:lnSpc>
              <a:spcBef>
                <a:spcPts val="500"/>
              </a:spcBef>
              <a:spcAft>
                <a:spcPts val="0"/>
              </a:spcAft>
              <a:buClr>
                <a:schemeClr val="dk1"/>
              </a:buClr>
              <a:buSzPts val="1800"/>
              <a:buFont typeface="Quattrocento Sans"/>
              <a:buNone/>
              <a:defRPr b="0" i="0" sz="1800" u="none" cap="none" strike="noStrike">
                <a:solidFill>
                  <a:schemeClr val="dk1"/>
                </a:solidFill>
                <a:latin typeface="Quattrocento Sans"/>
                <a:ea typeface="Quattrocento Sans"/>
                <a:cs typeface="Quattrocento Sans"/>
                <a:sym typeface="Quattrocento Sans"/>
              </a:defRPr>
            </a:lvl4pPr>
            <a:lvl5pPr indent="-228600" lvl="4" marL="2286000" marR="0" rtl="0" algn="l">
              <a:lnSpc>
                <a:spcPct val="90000"/>
              </a:lnSpc>
              <a:spcBef>
                <a:spcPts val="500"/>
              </a:spcBef>
              <a:spcAft>
                <a:spcPts val="0"/>
              </a:spcAft>
              <a:buClr>
                <a:schemeClr val="dk1"/>
              </a:buClr>
              <a:buSzPts val="1800"/>
              <a:buFont typeface="Quattrocento Sans"/>
              <a:buNone/>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6"/>
          <p:cNvSpPr txBox="1"/>
          <p:nvPr>
            <p:ph idx="11" type="ftr"/>
          </p:nvPr>
        </p:nvSpPr>
        <p:spPr>
          <a:xfrm>
            <a:off x="394447" y="6356350"/>
            <a:ext cx="411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1"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2" type="sldNum"/>
          </p:nvPr>
        </p:nvSpPr>
        <p:spPr>
          <a:xfrm>
            <a:off x="9054353"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31.png"/><Relationship Id="rId6" Type="http://schemas.openxmlformats.org/officeDocument/2006/relationships/image" Target="../media/image21.png"/><Relationship Id="rId7"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kaggle.com/datasets/carrie1/ecommerce-data" TargetMode="External"/></Relationships>
</file>

<file path=ppt/slides/_rels/slide3.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5.png"/><Relationship Id="rId13" Type="http://schemas.openxmlformats.org/officeDocument/2006/relationships/image" Target="../media/image16.png"/><Relationship Id="rId12" Type="http://schemas.openxmlformats.org/officeDocument/2006/relationships/image" Target="../media/image15.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8.png"/><Relationship Id="rId1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14.png"/><Relationship Id="rId7" Type="http://schemas.openxmlformats.org/officeDocument/2006/relationships/image" Target="../media/image7.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drive.google.com/file/d/19CxHzfxRWDe5xXXGuL1YdSkl3ycP6NsR/view?usp=sharing" TargetMode="External"/><Relationship Id="rId4" Type="http://schemas.openxmlformats.org/officeDocument/2006/relationships/hyperlink" Target="https://drive.google.com/file/d/1iDZzBvXOkjohCVCzZUJNwoWZc0Imn99W/view?usp=shar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p:nvPr/>
        </p:nvSpPr>
        <p:spPr>
          <a:xfrm>
            <a:off x="11501" y="30546"/>
            <a:ext cx="4763697"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p:nvPr/>
        </p:nvSpPr>
        <p:spPr>
          <a:xfrm>
            <a:off x="643101" y="5711218"/>
            <a:ext cx="2902355"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262626"/>
                </a:solidFill>
                <a:latin typeface="Quattrocento Sans"/>
                <a:ea typeface="Quattrocento Sans"/>
                <a:cs typeface="Quattrocento Sans"/>
                <a:sym typeface="Quattrocento Sans"/>
              </a:rPr>
              <a:t>PRASETYO SAPUTRO</a:t>
            </a:r>
            <a:endParaRPr/>
          </a:p>
          <a:p>
            <a:pPr indent="0" lvl="0" marL="0" marR="0" rtl="0" algn="l">
              <a:spcBef>
                <a:spcPts val="0"/>
              </a:spcBef>
              <a:spcAft>
                <a:spcPts val="0"/>
              </a:spcAft>
              <a:buNone/>
            </a:pPr>
            <a:r>
              <a:rPr b="1" lang="en-US" sz="1800">
                <a:solidFill>
                  <a:srgbClr val="262626"/>
                </a:solidFill>
                <a:latin typeface="Quattrocento Sans"/>
                <a:ea typeface="Quattrocento Sans"/>
                <a:cs typeface="Quattrocento Sans"/>
                <a:sym typeface="Quattrocento Sans"/>
              </a:rPr>
              <a:t>Data Analyst</a:t>
            </a:r>
            <a:endParaRPr sz="1800">
              <a:solidFill>
                <a:srgbClr val="262626"/>
              </a:solidFill>
              <a:latin typeface="Quattrocento Sans"/>
              <a:ea typeface="Quattrocento Sans"/>
              <a:cs typeface="Quattrocento Sans"/>
              <a:sym typeface="Quattrocento Sans"/>
            </a:endParaRPr>
          </a:p>
        </p:txBody>
      </p:sp>
      <p:cxnSp>
        <p:nvCxnSpPr>
          <p:cNvPr id="91" name="Google Shape;91;p1"/>
          <p:cNvCxnSpPr/>
          <p:nvPr/>
        </p:nvCxnSpPr>
        <p:spPr>
          <a:xfrm>
            <a:off x="643101" y="5527287"/>
            <a:ext cx="4132099" cy="0"/>
          </a:xfrm>
          <a:prstGeom prst="straightConnector1">
            <a:avLst/>
          </a:prstGeom>
          <a:noFill/>
          <a:ln cap="flat" cmpd="sng" w="9525">
            <a:solidFill>
              <a:srgbClr val="D8D8D8"/>
            </a:solidFill>
            <a:prstDash val="solid"/>
            <a:miter lim="800000"/>
            <a:headEnd len="sm" w="sm" type="none"/>
            <a:tailEnd len="sm" w="sm" type="none"/>
          </a:ln>
        </p:spPr>
      </p:cxnSp>
      <p:sp>
        <p:nvSpPr>
          <p:cNvPr id="92" name="Google Shape;92;p1"/>
          <p:cNvSpPr txBox="1"/>
          <p:nvPr>
            <p:ph type="ctrTitle"/>
          </p:nvPr>
        </p:nvSpPr>
        <p:spPr>
          <a:xfrm>
            <a:off x="643100" y="1589095"/>
            <a:ext cx="4132099" cy="367981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Georgia"/>
              <a:buNone/>
            </a:pPr>
            <a:r>
              <a:rPr lang="en-US" sz="4000"/>
              <a:t>Analisis data transaksi dari E-commerce inggris</a:t>
            </a:r>
            <a:endParaRPr sz="4000"/>
          </a:p>
        </p:txBody>
      </p:sp>
      <p:cxnSp>
        <p:nvCxnSpPr>
          <p:cNvPr id="93" name="Google Shape;93;p1"/>
          <p:cNvCxnSpPr/>
          <p:nvPr/>
        </p:nvCxnSpPr>
        <p:spPr>
          <a:xfrm>
            <a:off x="5604933" y="5527287"/>
            <a:ext cx="5825067" cy="0"/>
          </a:xfrm>
          <a:prstGeom prst="straightConnector1">
            <a:avLst/>
          </a:prstGeom>
          <a:noFill/>
          <a:ln cap="flat" cmpd="sng" w="9525">
            <a:solidFill>
              <a:schemeClr val="lt1"/>
            </a:solidFill>
            <a:prstDash val="solid"/>
            <a:miter lim="800000"/>
            <a:headEnd len="sm" w="sm" type="none"/>
            <a:tailEnd len="sm" w="sm" type="none"/>
          </a:ln>
        </p:spPr>
      </p:cxnSp>
      <p:sp>
        <p:nvSpPr>
          <p:cNvPr id="94" name="Google Shape;94;p1"/>
          <p:cNvSpPr/>
          <p:nvPr/>
        </p:nvSpPr>
        <p:spPr>
          <a:xfrm>
            <a:off x="4958478" y="716376"/>
            <a:ext cx="5825067"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1400">
                <a:solidFill>
                  <a:schemeClr val="dk1"/>
                </a:solidFill>
                <a:latin typeface="Quattrocento Sans"/>
                <a:ea typeface="Quattrocento Sans"/>
                <a:cs typeface="Quattrocento Sans"/>
                <a:sym typeface="Quattrocento Sans"/>
              </a:rPr>
              <a:t>Tools</a:t>
            </a:r>
            <a:endParaRPr/>
          </a:p>
        </p:txBody>
      </p:sp>
      <p:pic>
        <p:nvPicPr>
          <p:cNvPr id="95" name="Google Shape;95;p1"/>
          <p:cNvPicPr preferRelativeResize="0"/>
          <p:nvPr/>
        </p:nvPicPr>
        <p:blipFill rotWithShape="1">
          <a:blip r:embed="rId3">
            <a:alphaModFix/>
          </a:blip>
          <a:srcRect b="0" l="0" r="0" t="0"/>
          <a:stretch/>
        </p:blipFill>
        <p:spPr>
          <a:xfrm>
            <a:off x="7292251" y="1397839"/>
            <a:ext cx="2513525" cy="1612957"/>
          </a:xfrm>
          <a:prstGeom prst="rect">
            <a:avLst/>
          </a:prstGeom>
          <a:noFill/>
          <a:ln>
            <a:noFill/>
          </a:ln>
        </p:spPr>
      </p:pic>
      <p:pic>
        <p:nvPicPr>
          <p:cNvPr id="96" name="Google Shape;96;p1"/>
          <p:cNvPicPr preferRelativeResize="0"/>
          <p:nvPr/>
        </p:nvPicPr>
        <p:blipFill rotWithShape="1">
          <a:blip r:embed="rId4">
            <a:alphaModFix/>
          </a:blip>
          <a:srcRect b="0" l="0" r="0" t="0"/>
          <a:stretch/>
        </p:blipFill>
        <p:spPr>
          <a:xfrm>
            <a:off x="5406797" y="1397839"/>
            <a:ext cx="1390480" cy="1612957"/>
          </a:xfrm>
          <a:prstGeom prst="rect">
            <a:avLst/>
          </a:prstGeom>
          <a:noFill/>
          <a:ln>
            <a:noFill/>
          </a:ln>
        </p:spPr>
      </p:pic>
      <p:pic>
        <p:nvPicPr>
          <p:cNvPr id="97" name="Google Shape;97;p1"/>
          <p:cNvPicPr preferRelativeResize="0"/>
          <p:nvPr/>
        </p:nvPicPr>
        <p:blipFill rotWithShape="1">
          <a:blip r:embed="rId5">
            <a:alphaModFix/>
          </a:blip>
          <a:srcRect b="0" l="0" r="0" t="0"/>
          <a:stretch/>
        </p:blipFill>
        <p:spPr>
          <a:xfrm>
            <a:off x="9522825" y="1446369"/>
            <a:ext cx="2513524" cy="1653005"/>
          </a:xfrm>
          <a:prstGeom prst="rect">
            <a:avLst/>
          </a:prstGeom>
          <a:noFill/>
          <a:ln>
            <a:noFill/>
          </a:ln>
        </p:spPr>
      </p:pic>
      <p:pic>
        <p:nvPicPr>
          <p:cNvPr id="98" name="Google Shape;98;p1"/>
          <p:cNvPicPr preferRelativeResize="0"/>
          <p:nvPr/>
        </p:nvPicPr>
        <p:blipFill rotWithShape="1">
          <a:blip r:embed="rId6">
            <a:alphaModFix/>
          </a:blip>
          <a:srcRect b="0" l="0" r="0" t="0"/>
          <a:stretch/>
        </p:blipFill>
        <p:spPr>
          <a:xfrm>
            <a:off x="5203661" y="3742610"/>
            <a:ext cx="1784677" cy="1784677"/>
          </a:xfrm>
          <a:prstGeom prst="rect">
            <a:avLst/>
          </a:prstGeom>
          <a:noFill/>
          <a:ln>
            <a:noFill/>
          </a:ln>
        </p:spPr>
      </p:pic>
      <p:pic>
        <p:nvPicPr>
          <p:cNvPr id="99" name="Google Shape;99;p1"/>
          <p:cNvPicPr preferRelativeResize="0"/>
          <p:nvPr/>
        </p:nvPicPr>
        <p:blipFill rotWithShape="1">
          <a:blip r:embed="rId7">
            <a:alphaModFix/>
          </a:blip>
          <a:srcRect b="0" l="0" r="0" t="0"/>
          <a:stretch/>
        </p:blipFill>
        <p:spPr>
          <a:xfrm>
            <a:off x="7653943" y="3648556"/>
            <a:ext cx="1790140" cy="17901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394447" y="499596"/>
            <a:ext cx="11403106" cy="79132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PENDAHULUAN</a:t>
            </a:r>
            <a:endParaRPr/>
          </a:p>
        </p:txBody>
      </p:sp>
      <p:sp>
        <p:nvSpPr>
          <p:cNvPr id="105" name="Google Shape;105;p2"/>
          <p:cNvSpPr txBox="1"/>
          <p:nvPr>
            <p:ph idx="1" type="body"/>
          </p:nvPr>
        </p:nvSpPr>
        <p:spPr>
          <a:xfrm>
            <a:off x="2581835" y="1595716"/>
            <a:ext cx="6651812" cy="3048281"/>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rgbClr val="000000"/>
              </a:buClr>
              <a:buSzPts val="2000"/>
              <a:buFont typeface="Quattrocento Sans"/>
              <a:buNone/>
            </a:pPr>
            <a:r>
              <a:rPr lang="en-US" sz="2000">
                <a:solidFill>
                  <a:srgbClr val="000000"/>
                </a:solidFill>
              </a:rPr>
              <a:t>Analisis data telah menjadi kunci bagi Perusahaan  untuk memahami pelanggan dan mengoptimalkan sebuah bisnis. Dalam portofolio ini saya menganalisis sebuah transnasional yang berisi sebuah transaksi dari sebuah ritel e-commerce yang berbasis di United Kingdom(UK). Dataset ini mencakup data transaksi dari tahun 2009 hingga 2011</a:t>
            </a:r>
            <a:endParaRPr/>
          </a:p>
          <a:p>
            <a:pPr indent="0" lvl="0" marL="0" rtl="0" algn="just">
              <a:lnSpc>
                <a:spcPct val="90000"/>
              </a:lnSpc>
              <a:spcBef>
                <a:spcPts val="1000"/>
              </a:spcBef>
              <a:spcAft>
                <a:spcPts val="0"/>
              </a:spcAft>
              <a:buClr>
                <a:schemeClr val="dk1"/>
              </a:buClr>
              <a:buSzPts val="2000"/>
              <a:buFont typeface="Quattrocento Sans"/>
              <a:buNone/>
            </a:pPr>
            <a:r>
              <a:t/>
            </a:r>
            <a:endParaRPr sz="2000">
              <a:solidFill>
                <a:srgbClr val="000000"/>
              </a:solidFill>
            </a:endParaRPr>
          </a:p>
          <a:p>
            <a:pPr indent="0" lvl="0" marL="0" rtl="0" algn="just">
              <a:lnSpc>
                <a:spcPct val="90000"/>
              </a:lnSpc>
              <a:spcBef>
                <a:spcPts val="1000"/>
              </a:spcBef>
              <a:spcAft>
                <a:spcPts val="0"/>
              </a:spcAft>
              <a:buClr>
                <a:srgbClr val="000000"/>
              </a:buClr>
              <a:buSzPts val="2000"/>
              <a:buFont typeface="Quattrocento Sans"/>
              <a:buNone/>
            </a:pPr>
            <a:r>
              <a:rPr lang="en-US" sz="2000">
                <a:solidFill>
                  <a:srgbClr val="000000"/>
                </a:solidFill>
              </a:rPr>
              <a:t>	</a:t>
            </a:r>
            <a:endParaRPr/>
          </a:p>
          <a:p>
            <a:pPr indent="0" lvl="0" marL="0" rtl="0" algn="l">
              <a:lnSpc>
                <a:spcPct val="90000"/>
              </a:lnSpc>
              <a:spcBef>
                <a:spcPts val="1000"/>
              </a:spcBef>
              <a:spcAft>
                <a:spcPts val="0"/>
              </a:spcAft>
              <a:buClr>
                <a:schemeClr val="dk1"/>
              </a:buClr>
              <a:buSzPts val="2800"/>
              <a:buFont typeface="Quattrocento Sans"/>
              <a:buNone/>
            </a:pPr>
            <a:r>
              <a:t/>
            </a:r>
            <a:endParaRPr/>
          </a:p>
          <a:p>
            <a:pPr indent="0" lvl="0" marL="0" rtl="0" algn="l">
              <a:lnSpc>
                <a:spcPct val="90000"/>
              </a:lnSpc>
              <a:spcBef>
                <a:spcPts val="1000"/>
              </a:spcBef>
              <a:spcAft>
                <a:spcPts val="0"/>
              </a:spcAft>
              <a:buClr>
                <a:schemeClr val="dk1"/>
              </a:buClr>
              <a:buSzPts val="2800"/>
              <a:buFont typeface="Quattrocento Sans"/>
              <a:buNone/>
            </a:pPr>
            <a:r>
              <a:t/>
            </a:r>
            <a:endParaRPr/>
          </a:p>
        </p:txBody>
      </p:sp>
      <p:sp>
        <p:nvSpPr>
          <p:cNvPr id="106" name="Google Shape;106;p2"/>
          <p:cNvSpPr txBox="1"/>
          <p:nvPr>
            <p:ph idx="12" type="sldNum"/>
          </p:nvPr>
        </p:nvSpPr>
        <p:spPr>
          <a:xfrm>
            <a:off x="11445505" y="6414220"/>
            <a:ext cx="285741" cy="249385"/>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grpSp>
        <p:nvGrpSpPr>
          <p:cNvPr id="107" name="Google Shape;107;p2"/>
          <p:cNvGrpSpPr/>
          <p:nvPr/>
        </p:nvGrpSpPr>
        <p:grpSpPr>
          <a:xfrm>
            <a:off x="0" y="4954136"/>
            <a:ext cx="12192000" cy="1909138"/>
            <a:chOff x="0" y="4948862"/>
            <a:chExt cx="12192000" cy="1909138"/>
          </a:xfrm>
        </p:grpSpPr>
        <p:sp>
          <p:nvSpPr>
            <p:cNvPr id="108" name="Google Shape;108;p2"/>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09" name="Google Shape;109;p2"/>
            <p:cNvSpPr/>
            <p:nvPr/>
          </p:nvSpPr>
          <p:spPr>
            <a:xfrm>
              <a:off x="0" y="5563852"/>
              <a:ext cx="12192000" cy="1294147"/>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sp>
        <p:nvSpPr>
          <p:cNvPr id="110" name="Google Shape;110;p2"/>
          <p:cNvSpPr txBox="1"/>
          <p:nvPr/>
        </p:nvSpPr>
        <p:spPr>
          <a:xfrm>
            <a:off x="2462524" y="3893669"/>
            <a:ext cx="854417" cy="507190"/>
          </a:xfrm>
          <a:prstGeom prst="rect">
            <a:avLst/>
          </a:prstGeom>
          <a:noFill/>
          <a:ln>
            <a:noFill/>
          </a:ln>
        </p:spPr>
        <p:txBody>
          <a:bodyPr anchorCtr="0" anchor="t" bIns="0" lIns="0" spcFirstLastPara="1" rIns="0" wrap="square" tIns="0">
            <a:spAutoFit/>
          </a:bodyPr>
          <a:lstStyle/>
          <a:p>
            <a:pPr indent="0" lvl="0" marL="0" marR="0" rtl="0" algn="ctr">
              <a:lnSpc>
                <a:spcPct val="102997"/>
              </a:lnSpc>
              <a:spcBef>
                <a:spcPts val="0"/>
              </a:spcBef>
              <a:spcAft>
                <a:spcPts val="0"/>
              </a:spcAft>
              <a:buClr>
                <a:srgbClr val="CCEDC4"/>
              </a:buClr>
              <a:buSzPts val="3200"/>
              <a:buFont typeface="Oswald"/>
              <a:buNone/>
            </a:pPr>
            <a:r>
              <a:rPr b="1" i="0" lang="en-US" sz="3200" u="none" cap="none" strike="noStrike">
                <a:solidFill>
                  <a:srgbClr val="CCEDC4"/>
                </a:solidFill>
                <a:latin typeface="Oswald"/>
                <a:ea typeface="Oswald"/>
                <a:cs typeface="Oswald"/>
                <a:sym typeface="Oswald"/>
              </a:rPr>
              <a:t>01</a:t>
            </a:r>
            <a:endParaRPr sz="3200">
              <a:solidFill>
                <a:schemeClr val="dk1"/>
              </a:solidFill>
              <a:latin typeface="Calibri"/>
              <a:ea typeface="Calibri"/>
              <a:cs typeface="Calibri"/>
              <a:sym typeface="Calibri"/>
            </a:endParaRPr>
          </a:p>
        </p:txBody>
      </p:sp>
      <p:sp>
        <p:nvSpPr>
          <p:cNvPr id="111" name="Google Shape;111;p2"/>
          <p:cNvSpPr txBox="1"/>
          <p:nvPr/>
        </p:nvSpPr>
        <p:spPr>
          <a:xfrm>
            <a:off x="3316941" y="3813267"/>
            <a:ext cx="6651812" cy="79132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Quattrocento Sans"/>
              <a:buNone/>
            </a:pPr>
            <a:r>
              <a:rPr lang="en-US" sz="2000">
                <a:solidFill>
                  <a:schemeClr val="dk1"/>
                </a:solidFill>
                <a:latin typeface="Quattrocento Sans"/>
                <a:ea typeface="Quattrocento Sans"/>
                <a:cs typeface="Quattrocento Sans"/>
                <a:sym typeface="Quattrocento Sans"/>
              </a:rPr>
              <a:t>Mengidentifikasi tren pendapatan berdasarkan periode tertentu (Harian,Bulanan)</a:t>
            </a:r>
            <a:endParaRPr/>
          </a:p>
        </p:txBody>
      </p:sp>
      <p:sp>
        <p:nvSpPr>
          <p:cNvPr id="112" name="Google Shape;112;p2"/>
          <p:cNvSpPr txBox="1"/>
          <p:nvPr/>
        </p:nvSpPr>
        <p:spPr>
          <a:xfrm>
            <a:off x="2462524" y="4627632"/>
            <a:ext cx="854417" cy="507190"/>
          </a:xfrm>
          <a:prstGeom prst="rect">
            <a:avLst/>
          </a:prstGeom>
          <a:noFill/>
          <a:ln>
            <a:noFill/>
          </a:ln>
        </p:spPr>
        <p:txBody>
          <a:bodyPr anchorCtr="0" anchor="t" bIns="0" lIns="0" spcFirstLastPara="1" rIns="0" wrap="square" tIns="0">
            <a:spAutoFit/>
          </a:bodyPr>
          <a:lstStyle/>
          <a:p>
            <a:pPr indent="0" lvl="0" marL="0" marR="0" rtl="0" algn="ctr">
              <a:lnSpc>
                <a:spcPct val="102997"/>
              </a:lnSpc>
              <a:spcBef>
                <a:spcPts val="0"/>
              </a:spcBef>
              <a:spcAft>
                <a:spcPts val="0"/>
              </a:spcAft>
              <a:buClr>
                <a:srgbClr val="CCEDC4"/>
              </a:buClr>
              <a:buSzPts val="3200"/>
              <a:buFont typeface="Oswald"/>
              <a:buNone/>
            </a:pPr>
            <a:r>
              <a:rPr b="1" i="0" lang="en-US" sz="3200" u="none" cap="none" strike="noStrike">
                <a:solidFill>
                  <a:srgbClr val="CCEDC4"/>
                </a:solidFill>
                <a:latin typeface="Oswald"/>
                <a:ea typeface="Oswald"/>
                <a:cs typeface="Oswald"/>
                <a:sym typeface="Oswald"/>
              </a:rPr>
              <a:t>02</a:t>
            </a:r>
            <a:endParaRPr sz="3200">
              <a:solidFill>
                <a:schemeClr val="dk1"/>
              </a:solidFill>
              <a:latin typeface="Calibri"/>
              <a:ea typeface="Calibri"/>
              <a:cs typeface="Calibri"/>
              <a:sym typeface="Calibri"/>
            </a:endParaRPr>
          </a:p>
        </p:txBody>
      </p:sp>
      <p:sp>
        <p:nvSpPr>
          <p:cNvPr id="113" name="Google Shape;113;p2"/>
          <p:cNvSpPr txBox="1"/>
          <p:nvPr/>
        </p:nvSpPr>
        <p:spPr>
          <a:xfrm>
            <a:off x="3325906" y="4553134"/>
            <a:ext cx="6651812" cy="79132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Quattrocento Sans"/>
              <a:buNone/>
            </a:pPr>
            <a:r>
              <a:rPr lang="en-US" sz="2000">
                <a:solidFill>
                  <a:schemeClr val="dk1"/>
                </a:solidFill>
                <a:latin typeface="Quattrocento Sans"/>
                <a:ea typeface="Quattrocento Sans"/>
                <a:cs typeface="Quattrocento Sans"/>
                <a:sym typeface="Quattrocento Sans"/>
              </a:rPr>
              <a:t>Menentukan kategori produk dan negara yang memberikan kontribusi terbesard terhadap pendapatan</a:t>
            </a:r>
            <a:endParaRPr sz="2000">
              <a:solidFill>
                <a:schemeClr val="dk1"/>
              </a:solidFill>
              <a:latin typeface="Quattrocento Sans"/>
              <a:ea typeface="Quattrocento Sans"/>
              <a:cs typeface="Quattrocento Sans"/>
              <a:sym typeface="Quattrocento Sans"/>
            </a:endParaRPr>
          </a:p>
        </p:txBody>
      </p:sp>
      <p:sp>
        <p:nvSpPr>
          <p:cNvPr id="114" name="Google Shape;114;p2"/>
          <p:cNvSpPr txBox="1"/>
          <p:nvPr/>
        </p:nvSpPr>
        <p:spPr>
          <a:xfrm>
            <a:off x="2462524" y="5308013"/>
            <a:ext cx="854417" cy="507190"/>
          </a:xfrm>
          <a:prstGeom prst="rect">
            <a:avLst/>
          </a:prstGeom>
          <a:noFill/>
          <a:ln>
            <a:noFill/>
          </a:ln>
        </p:spPr>
        <p:txBody>
          <a:bodyPr anchorCtr="0" anchor="t" bIns="0" lIns="0" spcFirstLastPara="1" rIns="0" wrap="square" tIns="0">
            <a:spAutoFit/>
          </a:bodyPr>
          <a:lstStyle/>
          <a:p>
            <a:pPr indent="0" lvl="0" marL="0" marR="0" rtl="0" algn="ctr">
              <a:lnSpc>
                <a:spcPct val="102997"/>
              </a:lnSpc>
              <a:spcBef>
                <a:spcPts val="0"/>
              </a:spcBef>
              <a:spcAft>
                <a:spcPts val="0"/>
              </a:spcAft>
              <a:buClr>
                <a:srgbClr val="CCEDC4"/>
              </a:buClr>
              <a:buSzPts val="3200"/>
              <a:buFont typeface="Oswald"/>
              <a:buNone/>
            </a:pPr>
            <a:r>
              <a:rPr b="1" i="0" lang="en-US" sz="3200" u="none" cap="none" strike="noStrike">
                <a:solidFill>
                  <a:srgbClr val="CCEDC4"/>
                </a:solidFill>
                <a:latin typeface="Oswald"/>
                <a:ea typeface="Oswald"/>
                <a:cs typeface="Oswald"/>
                <a:sym typeface="Oswald"/>
              </a:rPr>
              <a:t>0</a:t>
            </a:r>
            <a:r>
              <a:rPr b="1" lang="en-US" sz="3200">
                <a:solidFill>
                  <a:srgbClr val="CCEDC4"/>
                </a:solidFill>
                <a:latin typeface="Oswald"/>
                <a:ea typeface="Oswald"/>
                <a:cs typeface="Oswald"/>
                <a:sym typeface="Oswald"/>
              </a:rPr>
              <a:t>3</a:t>
            </a:r>
            <a:endParaRPr sz="3200">
              <a:solidFill>
                <a:schemeClr val="dk1"/>
              </a:solidFill>
              <a:latin typeface="Calibri"/>
              <a:ea typeface="Calibri"/>
              <a:cs typeface="Calibri"/>
              <a:sym typeface="Calibri"/>
            </a:endParaRPr>
          </a:p>
        </p:txBody>
      </p:sp>
      <p:sp>
        <p:nvSpPr>
          <p:cNvPr id="115" name="Google Shape;115;p2"/>
          <p:cNvSpPr txBox="1"/>
          <p:nvPr/>
        </p:nvSpPr>
        <p:spPr>
          <a:xfrm>
            <a:off x="3334871" y="5330355"/>
            <a:ext cx="6651812" cy="79132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Quattrocento Sans"/>
              <a:buNone/>
            </a:pPr>
            <a:r>
              <a:rPr lang="en-US" sz="2000">
                <a:solidFill>
                  <a:schemeClr val="dk1"/>
                </a:solidFill>
                <a:latin typeface="Quattrocento Sans"/>
                <a:ea typeface="Quattrocento Sans"/>
                <a:cs typeface="Quattrocento Sans"/>
                <a:sym typeface="Quattrocento Sans"/>
              </a:rPr>
              <a:t>Segmentasi pelanggan menggunakan analisi RFM</a:t>
            </a:r>
            <a:endParaRPr/>
          </a:p>
        </p:txBody>
      </p:sp>
      <p:sp>
        <p:nvSpPr>
          <p:cNvPr id="116" name="Google Shape;116;p2"/>
          <p:cNvSpPr txBox="1"/>
          <p:nvPr/>
        </p:nvSpPr>
        <p:spPr>
          <a:xfrm>
            <a:off x="161365" y="38800"/>
            <a:ext cx="6651812" cy="79132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Quattrocento Sans"/>
              <a:buNone/>
            </a:pPr>
            <a:r>
              <a:rPr lang="en-US" sz="2000">
                <a:solidFill>
                  <a:schemeClr val="dk1"/>
                </a:solidFill>
                <a:latin typeface="Quattrocento Sans"/>
                <a:ea typeface="Quattrocento Sans"/>
                <a:cs typeface="Quattrocento Sans"/>
                <a:sym typeface="Quattrocento Sans"/>
              </a:rPr>
              <a:t>Sumber dataset: </a:t>
            </a:r>
            <a:r>
              <a:rPr lang="en-US" sz="2000" u="sng">
                <a:solidFill>
                  <a:schemeClr val="dk1"/>
                </a:solidFill>
                <a:latin typeface="Quattrocento Sans"/>
                <a:ea typeface="Quattrocento Sans"/>
                <a:cs typeface="Quattrocento Sans"/>
                <a:sym typeface="Quattrocento Sans"/>
                <a:hlinkClick r:id="rId3">
                  <a:extLst>
                    <a:ext uri="{A12FA001-AC4F-418D-AE19-62706E023703}">
                      <ahyp:hlinkClr val="tx"/>
                    </a:ext>
                  </a:extLst>
                </a:hlinkClick>
              </a:rPr>
              <a:t>E-Commerce Data</a:t>
            </a:r>
            <a:endParaRPr sz="20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3"/>
          <p:cNvPicPr preferRelativeResize="0"/>
          <p:nvPr/>
        </p:nvPicPr>
        <p:blipFill rotWithShape="1">
          <a:blip r:embed="rId3">
            <a:alphaModFix/>
          </a:blip>
          <a:srcRect b="0" l="0" r="0" t="0"/>
          <a:stretch/>
        </p:blipFill>
        <p:spPr>
          <a:xfrm>
            <a:off x="3662767" y="982809"/>
            <a:ext cx="4838783" cy="4838783"/>
          </a:xfrm>
          <a:prstGeom prst="rect">
            <a:avLst/>
          </a:prstGeom>
          <a:noFill/>
          <a:ln>
            <a:noFill/>
          </a:ln>
        </p:spPr>
      </p:pic>
      <p:sp>
        <p:nvSpPr>
          <p:cNvPr id="122" name="Google Shape;122;p3"/>
          <p:cNvSpPr/>
          <p:nvPr/>
        </p:nvSpPr>
        <p:spPr>
          <a:xfrm>
            <a:off x="4233780" y="1559785"/>
            <a:ext cx="3689439" cy="3684827"/>
          </a:xfrm>
          <a:custGeom>
            <a:rect b="b" l="l" r="r" t="t"/>
            <a:pathLst>
              <a:path extrusionOk="0" h="5527240" w="5534158">
                <a:moveTo>
                  <a:pt x="0" y="0"/>
                </a:moveTo>
                <a:lnTo>
                  <a:pt x="5534158" y="0"/>
                </a:lnTo>
                <a:lnTo>
                  <a:pt x="5534158" y="5527240"/>
                </a:lnTo>
                <a:lnTo>
                  <a:pt x="0" y="5527240"/>
                </a:lnTo>
                <a:lnTo>
                  <a:pt x="0" y="0"/>
                </a:lnTo>
                <a:close/>
              </a:path>
            </a:pathLst>
          </a:custGeom>
          <a:blipFill rotWithShape="1">
            <a:blip r:embed="rId4">
              <a:alphaModFix/>
            </a:blip>
            <a:stretch>
              <a:fillRect b="0" l="0" r="0" t="0"/>
            </a:stretch>
          </a:blipFill>
          <a:ln>
            <a:noFill/>
          </a:ln>
        </p:spPr>
      </p:sp>
      <p:sp>
        <p:nvSpPr>
          <p:cNvPr id="123" name="Google Shape;123;p3"/>
          <p:cNvSpPr/>
          <p:nvPr/>
        </p:nvSpPr>
        <p:spPr>
          <a:xfrm>
            <a:off x="3153730" y="2164393"/>
            <a:ext cx="1115618" cy="1114223"/>
          </a:xfrm>
          <a:custGeom>
            <a:rect b="b" l="l" r="r" t="t"/>
            <a:pathLst>
              <a:path extrusionOk="0" h="1671335" w="1673427">
                <a:moveTo>
                  <a:pt x="0" y="0"/>
                </a:moveTo>
                <a:lnTo>
                  <a:pt x="1673427" y="0"/>
                </a:lnTo>
                <a:lnTo>
                  <a:pt x="1673427" y="1671335"/>
                </a:lnTo>
                <a:lnTo>
                  <a:pt x="0" y="1671335"/>
                </a:lnTo>
                <a:lnTo>
                  <a:pt x="0" y="0"/>
                </a:lnTo>
                <a:close/>
              </a:path>
            </a:pathLst>
          </a:custGeom>
          <a:blipFill rotWithShape="1">
            <a:blip r:embed="rId5">
              <a:alphaModFix/>
            </a:blip>
            <a:stretch>
              <a:fillRect b="0" l="0" r="0" t="0"/>
            </a:stretch>
          </a:blipFill>
          <a:ln>
            <a:noFill/>
          </a:ln>
        </p:spPr>
      </p:sp>
      <p:sp>
        <p:nvSpPr>
          <p:cNvPr id="124" name="Google Shape;124;p3"/>
          <p:cNvSpPr/>
          <p:nvPr/>
        </p:nvSpPr>
        <p:spPr>
          <a:xfrm>
            <a:off x="3919764" y="4468585"/>
            <a:ext cx="1115618" cy="1114223"/>
          </a:xfrm>
          <a:custGeom>
            <a:rect b="b" l="l" r="r" t="t"/>
            <a:pathLst>
              <a:path extrusionOk="0" h="1671335" w="1673427">
                <a:moveTo>
                  <a:pt x="0" y="0"/>
                </a:moveTo>
                <a:lnTo>
                  <a:pt x="1673427" y="0"/>
                </a:lnTo>
                <a:lnTo>
                  <a:pt x="1673427" y="1671335"/>
                </a:lnTo>
                <a:lnTo>
                  <a:pt x="0" y="1671335"/>
                </a:lnTo>
                <a:lnTo>
                  <a:pt x="0" y="0"/>
                </a:lnTo>
                <a:close/>
              </a:path>
            </a:pathLst>
          </a:custGeom>
          <a:blipFill rotWithShape="1">
            <a:blip r:embed="rId6">
              <a:alphaModFix/>
            </a:blip>
            <a:stretch>
              <a:fillRect b="0" l="0" r="0" t="0"/>
            </a:stretch>
          </a:blipFill>
          <a:ln>
            <a:noFill/>
          </a:ln>
        </p:spPr>
      </p:sp>
      <p:grpSp>
        <p:nvGrpSpPr>
          <p:cNvPr id="125" name="Google Shape;125;p3"/>
          <p:cNvGrpSpPr/>
          <p:nvPr/>
        </p:nvGrpSpPr>
        <p:grpSpPr>
          <a:xfrm>
            <a:off x="7559296" y="1878084"/>
            <a:ext cx="1115618" cy="1114223"/>
            <a:chOff x="6879372" y="743639"/>
            <a:chExt cx="1115618" cy="1114223"/>
          </a:xfrm>
        </p:grpSpPr>
        <p:sp>
          <p:nvSpPr>
            <p:cNvPr id="126" name="Google Shape;126;p3"/>
            <p:cNvSpPr/>
            <p:nvPr/>
          </p:nvSpPr>
          <p:spPr>
            <a:xfrm>
              <a:off x="6879372" y="743639"/>
              <a:ext cx="1115618" cy="1114223"/>
            </a:xfrm>
            <a:custGeom>
              <a:rect b="b" l="l" r="r" t="t"/>
              <a:pathLst>
                <a:path extrusionOk="0" h="1671335" w="1673427">
                  <a:moveTo>
                    <a:pt x="0" y="0"/>
                  </a:moveTo>
                  <a:lnTo>
                    <a:pt x="1673427" y="0"/>
                  </a:lnTo>
                  <a:lnTo>
                    <a:pt x="1673427" y="1671335"/>
                  </a:lnTo>
                  <a:lnTo>
                    <a:pt x="0" y="1671335"/>
                  </a:lnTo>
                  <a:lnTo>
                    <a:pt x="0" y="0"/>
                  </a:lnTo>
                  <a:close/>
                </a:path>
              </a:pathLst>
            </a:custGeom>
            <a:blipFill rotWithShape="1">
              <a:blip r:embed="rId7">
                <a:alphaModFix/>
              </a:blip>
              <a:stretch>
                <a:fillRect b="0" l="0" r="0" t="0"/>
              </a:stretch>
            </a:blipFill>
            <a:ln>
              <a:noFill/>
            </a:ln>
          </p:spPr>
        </p:sp>
        <p:sp>
          <p:nvSpPr>
            <p:cNvPr id="127" name="Google Shape;127;p3"/>
            <p:cNvSpPr/>
            <p:nvPr/>
          </p:nvSpPr>
          <p:spPr>
            <a:xfrm>
              <a:off x="7056123" y="944667"/>
              <a:ext cx="770841" cy="744212"/>
            </a:xfrm>
            <a:custGeom>
              <a:rect b="b" l="l" r="r" t="t"/>
              <a:pathLst>
                <a:path extrusionOk="0" h="1116318" w="1156262">
                  <a:moveTo>
                    <a:pt x="0" y="0"/>
                  </a:moveTo>
                  <a:lnTo>
                    <a:pt x="1156262" y="0"/>
                  </a:lnTo>
                  <a:lnTo>
                    <a:pt x="1156262" y="1116318"/>
                  </a:lnTo>
                  <a:lnTo>
                    <a:pt x="0" y="1116318"/>
                  </a:lnTo>
                  <a:lnTo>
                    <a:pt x="0" y="0"/>
                  </a:lnTo>
                  <a:close/>
                </a:path>
              </a:pathLst>
            </a:custGeom>
            <a:blipFill rotWithShape="1">
              <a:blip r:embed="rId8">
                <a:alphaModFix/>
              </a:blip>
              <a:stretch>
                <a:fillRect b="0" l="0" r="0" t="0"/>
              </a:stretch>
            </a:blipFill>
            <a:ln>
              <a:noFill/>
            </a:ln>
          </p:spPr>
        </p:sp>
      </p:grpSp>
      <p:sp>
        <p:nvSpPr>
          <p:cNvPr id="128" name="Google Shape;128;p3"/>
          <p:cNvSpPr/>
          <p:nvPr/>
        </p:nvSpPr>
        <p:spPr>
          <a:xfrm>
            <a:off x="4161730" y="4674374"/>
            <a:ext cx="579418" cy="559402"/>
          </a:xfrm>
          <a:custGeom>
            <a:rect b="b" l="l" r="r" t="t"/>
            <a:pathLst>
              <a:path extrusionOk="0" h="839103" w="869127">
                <a:moveTo>
                  <a:pt x="0" y="0"/>
                </a:moveTo>
                <a:lnTo>
                  <a:pt x="869127" y="0"/>
                </a:lnTo>
                <a:lnTo>
                  <a:pt x="869127" y="839102"/>
                </a:lnTo>
                <a:lnTo>
                  <a:pt x="0" y="839102"/>
                </a:lnTo>
                <a:lnTo>
                  <a:pt x="0" y="0"/>
                </a:lnTo>
                <a:close/>
              </a:path>
            </a:pathLst>
          </a:custGeom>
          <a:blipFill rotWithShape="1">
            <a:blip r:embed="rId9">
              <a:alphaModFix/>
            </a:blip>
            <a:stretch>
              <a:fillRect b="0" l="0" r="0" t="0"/>
            </a:stretch>
          </a:blipFill>
          <a:ln>
            <a:noFill/>
          </a:ln>
        </p:spPr>
      </p:sp>
      <p:sp>
        <p:nvSpPr>
          <p:cNvPr id="129" name="Google Shape;129;p3"/>
          <p:cNvSpPr/>
          <p:nvPr/>
        </p:nvSpPr>
        <p:spPr>
          <a:xfrm>
            <a:off x="3349961" y="2333409"/>
            <a:ext cx="710455" cy="685912"/>
          </a:xfrm>
          <a:custGeom>
            <a:rect b="b" l="l" r="r" t="t"/>
            <a:pathLst>
              <a:path extrusionOk="0" h="1028868" w="1065683">
                <a:moveTo>
                  <a:pt x="0" y="0"/>
                </a:moveTo>
                <a:lnTo>
                  <a:pt x="1065683" y="0"/>
                </a:lnTo>
                <a:lnTo>
                  <a:pt x="1065683" y="1028869"/>
                </a:lnTo>
                <a:lnTo>
                  <a:pt x="0" y="1028869"/>
                </a:lnTo>
                <a:lnTo>
                  <a:pt x="0" y="0"/>
                </a:lnTo>
                <a:close/>
              </a:path>
            </a:pathLst>
          </a:custGeom>
          <a:blipFill rotWithShape="1">
            <a:blip r:embed="rId10">
              <a:alphaModFix/>
            </a:blip>
            <a:stretch>
              <a:fillRect b="0" l="0" r="0" t="0"/>
            </a:stretch>
          </a:blipFill>
          <a:ln>
            <a:noFill/>
          </a:ln>
        </p:spPr>
      </p:sp>
      <p:grpSp>
        <p:nvGrpSpPr>
          <p:cNvPr id="130" name="Google Shape;130;p3"/>
          <p:cNvGrpSpPr/>
          <p:nvPr/>
        </p:nvGrpSpPr>
        <p:grpSpPr>
          <a:xfrm>
            <a:off x="5230400" y="348831"/>
            <a:ext cx="1115618" cy="1114223"/>
            <a:chOff x="4160738" y="743639"/>
            <a:chExt cx="1115618" cy="1114223"/>
          </a:xfrm>
        </p:grpSpPr>
        <p:sp>
          <p:nvSpPr>
            <p:cNvPr id="131" name="Google Shape;131;p3"/>
            <p:cNvSpPr/>
            <p:nvPr/>
          </p:nvSpPr>
          <p:spPr>
            <a:xfrm>
              <a:off x="4160738" y="743639"/>
              <a:ext cx="1115618" cy="1114223"/>
            </a:xfrm>
            <a:custGeom>
              <a:rect b="b" l="l" r="r" t="t"/>
              <a:pathLst>
                <a:path extrusionOk="0" h="1671335" w="1673427">
                  <a:moveTo>
                    <a:pt x="0" y="0"/>
                  </a:moveTo>
                  <a:lnTo>
                    <a:pt x="1673426" y="0"/>
                  </a:lnTo>
                  <a:lnTo>
                    <a:pt x="1673426" y="1671335"/>
                  </a:lnTo>
                  <a:lnTo>
                    <a:pt x="0" y="1671335"/>
                  </a:lnTo>
                  <a:lnTo>
                    <a:pt x="0" y="0"/>
                  </a:lnTo>
                  <a:close/>
                </a:path>
              </a:pathLst>
            </a:custGeom>
            <a:blipFill rotWithShape="1">
              <a:blip r:embed="rId11">
                <a:alphaModFix/>
              </a:blip>
              <a:stretch>
                <a:fillRect b="0" l="0" r="0" t="0"/>
              </a:stretch>
            </a:blipFill>
            <a:ln>
              <a:noFill/>
            </a:ln>
          </p:spPr>
        </p:sp>
        <p:sp>
          <p:nvSpPr>
            <p:cNvPr id="132" name="Google Shape;132;p3"/>
            <p:cNvSpPr/>
            <p:nvPr/>
          </p:nvSpPr>
          <p:spPr>
            <a:xfrm>
              <a:off x="4367724" y="938094"/>
              <a:ext cx="701645" cy="674855"/>
            </a:xfrm>
            <a:custGeom>
              <a:rect b="b" l="l" r="r" t="t"/>
              <a:pathLst>
                <a:path extrusionOk="0" h="1012282" w="1052468">
                  <a:moveTo>
                    <a:pt x="0" y="0"/>
                  </a:moveTo>
                  <a:lnTo>
                    <a:pt x="1052468" y="0"/>
                  </a:lnTo>
                  <a:lnTo>
                    <a:pt x="1052468" y="1012282"/>
                  </a:lnTo>
                  <a:lnTo>
                    <a:pt x="0" y="1012282"/>
                  </a:lnTo>
                  <a:lnTo>
                    <a:pt x="0" y="0"/>
                  </a:lnTo>
                  <a:close/>
                </a:path>
              </a:pathLst>
            </a:custGeom>
            <a:blipFill rotWithShape="1">
              <a:blip r:embed="rId12">
                <a:alphaModFix/>
              </a:blip>
              <a:stretch>
                <a:fillRect b="0" l="0" r="0" t="0"/>
              </a:stretch>
            </a:blipFill>
            <a:ln>
              <a:noFill/>
            </a:ln>
          </p:spPr>
        </p:sp>
      </p:grpSp>
      <p:grpSp>
        <p:nvGrpSpPr>
          <p:cNvPr id="133" name="Google Shape;133;p3"/>
          <p:cNvGrpSpPr/>
          <p:nvPr/>
        </p:nvGrpSpPr>
        <p:grpSpPr>
          <a:xfrm>
            <a:off x="2624878" y="301081"/>
            <a:ext cx="2545831" cy="1210322"/>
            <a:chOff x="1533898" y="813935"/>
            <a:chExt cx="2545831" cy="1210322"/>
          </a:xfrm>
        </p:grpSpPr>
        <p:sp>
          <p:nvSpPr>
            <p:cNvPr id="134" name="Google Shape;134;p3"/>
            <p:cNvSpPr txBox="1"/>
            <p:nvPr/>
          </p:nvSpPr>
          <p:spPr>
            <a:xfrm>
              <a:off x="3153729" y="967329"/>
              <a:ext cx="926000" cy="676788"/>
            </a:xfrm>
            <a:prstGeom prst="rect">
              <a:avLst/>
            </a:prstGeom>
            <a:noFill/>
            <a:ln>
              <a:noFill/>
            </a:ln>
          </p:spPr>
          <p:txBody>
            <a:bodyPr anchorCtr="0" anchor="t" bIns="0" lIns="0" spcFirstLastPara="1" rIns="0" wrap="square" tIns="0">
              <a:spAutoFit/>
            </a:bodyPr>
            <a:lstStyle/>
            <a:p>
              <a:pPr indent="0" lvl="0" marL="0" marR="0" rtl="0" algn="ctr">
                <a:lnSpc>
                  <a:spcPct val="102997"/>
                </a:lnSpc>
                <a:spcBef>
                  <a:spcPts val="0"/>
                </a:spcBef>
                <a:spcAft>
                  <a:spcPts val="0"/>
                </a:spcAft>
                <a:buNone/>
              </a:pPr>
              <a:r>
                <a:rPr b="1" lang="en-US" sz="4270">
                  <a:solidFill>
                    <a:srgbClr val="CCEDC4"/>
                  </a:solidFill>
                  <a:latin typeface="Oswald"/>
                  <a:ea typeface="Oswald"/>
                  <a:cs typeface="Oswald"/>
                  <a:sym typeface="Oswald"/>
                </a:rPr>
                <a:t>01.</a:t>
              </a:r>
              <a:endParaRPr sz="1200">
                <a:solidFill>
                  <a:schemeClr val="dk1"/>
                </a:solidFill>
                <a:latin typeface="Calibri"/>
                <a:ea typeface="Calibri"/>
                <a:cs typeface="Calibri"/>
                <a:sym typeface="Calibri"/>
              </a:endParaRPr>
            </a:p>
          </p:txBody>
        </p:sp>
        <p:sp>
          <p:nvSpPr>
            <p:cNvPr id="135" name="Google Shape;135;p3"/>
            <p:cNvSpPr txBox="1"/>
            <p:nvPr/>
          </p:nvSpPr>
          <p:spPr>
            <a:xfrm>
              <a:off x="1590410" y="813935"/>
              <a:ext cx="1400800" cy="572849"/>
            </a:xfrm>
            <a:prstGeom prst="rect">
              <a:avLst/>
            </a:prstGeom>
            <a:noFill/>
            <a:ln>
              <a:noFill/>
            </a:ln>
          </p:spPr>
          <p:txBody>
            <a:bodyPr anchorCtr="0" anchor="t" bIns="0" lIns="0" spcFirstLastPara="1" rIns="0" wrap="square" tIns="0">
              <a:spAutoFit/>
            </a:bodyPr>
            <a:lstStyle/>
            <a:p>
              <a:pPr indent="0" lvl="0" marL="0" marR="0" rtl="0" algn="r">
                <a:lnSpc>
                  <a:spcPct val="102988"/>
                </a:lnSpc>
                <a:spcBef>
                  <a:spcPts val="0"/>
                </a:spcBef>
                <a:spcAft>
                  <a:spcPts val="0"/>
                </a:spcAft>
                <a:buNone/>
              </a:pPr>
              <a:r>
                <a:rPr lang="en-US" sz="1807">
                  <a:solidFill>
                    <a:srgbClr val="CCEDC4"/>
                  </a:solidFill>
                  <a:latin typeface="Oswald"/>
                  <a:ea typeface="Oswald"/>
                  <a:cs typeface="Oswald"/>
                  <a:sym typeface="Oswald"/>
                </a:rPr>
                <a:t>PENGAMBILAN DATA</a:t>
              </a:r>
              <a:endParaRPr sz="1200">
                <a:solidFill>
                  <a:schemeClr val="dk1"/>
                </a:solidFill>
                <a:latin typeface="Calibri"/>
                <a:ea typeface="Calibri"/>
                <a:cs typeface="Calibri"/>
                <a:sym typeface="Calibri"/>
              </a:endParaRPr>
            </a:p>
          </p:txBody>
        </p:sp>
        <p:sp>
          <p:nvSpPr>
            <p:cNvPr id="136" name="Google Shape;136;p3"/>
            <p:cNvSpPr txBox="1"/>
            <p:nvPr/>
          </p:nvSpPr>
          <p:spPr>
            <a:xfrm>
              <a:off x="1533898" y="1334645"/>
              <a:ext cx="1753600" cy="68961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1067">
                  <a:solidFill>
                    <a:srgbClr val="000000"/>
                  </a:solidFill>
                  <a:latin typeface="Raleway"/>
                  <a:ea typeface="Raleway"/>
                  <a:cs typeface="Raleway"/>
                  <a:sym typeface="Raleway"/>
                </a:rPr>
                <a:t>Data transaksi e-commerce diperoleh Kaggle dalam bentuk csv.</a:t>
              </a:r>
              <a:endParaRPr sz="1200">
                <a:solidFill>
                  <a:schemeClr val="dk1"/>
                </a:solidFill>
                <a:latin typeface="Calibri"/>
                <a:ea typeface="Calibri"/>
                <a:cs typeface="Calibri"/>
                <a:sym typeface="Calibri"/>
              </a:endParaRPr>
            </a:p>
          </p:txBody>
        </p:sp>
      </p:grpSp>
      <p:sp>
        <p:nvSpPr>
          <p:cNvPr id="137" name="Google Shape;137;p3"/>
          <p:cNvSpPr txBox="1"/>
          <p:nvPr/>
        </p:nvSpPr>
        <p:spPr>
          <a:xfrm>
            <a:off x="2217823" y="2308294"/>
            <a:ext cx="926000" cy="676788"/>
          </a:xfrm>
          <a:prstGeom prst="rect">
            <a:avLst/>
          </a:prstGeom>
          <a:noFill/>
          <a:ln>
            <a:noFill/>
          </a:ln>
        </p:spPr>
        <p:txBody>
          <a:bodyPr anchorCtr="0" anchor="t" bIns="0" lIns="0" spcFirstLastPara="1" rIns="0" wrap="square" tIns="0">
            <a:spAutoFit/>
          </a:bodyPr>
          <a:lstStyle/>
          <a:p>
            <a:pPr indent="0" lvl="0" marL="0" marR="0" rtl="0" algn="ctr">
              <a:lnSpc>
                <a:spcPct val="102997"/>
              </a:lnSpc>
              <a:spcBef>
                <a:spcPts val="0"/>
              </a:spcBef>
              <a:spcAft>
                <a:spcPts val="0"/>
              </a:spcAft>
              <a:buNone/>
            </a:pPr>
            <a:r>
              <a:rPr b="1" lang="en-US" sz="4270">
                <a:solidFill>
                  <a:srgbClr val="D8CFFB"/>
                </a:solidFill>
                <a:latin typeface="Oswald"/>
                <a:ea typeface="Oswald"/>
                <a:cs typeface="Oswald"/>
                <a:sym typeface="Oswald"/>
              </a:rPr>
              <a:t>02.</a:t>
            </a:r>
            <a:endParaRPr sz="1200">
              <a:solidFill>
                <a:schemeClr val="dk1"/>
              </a:solidFill>
              <a:latin typeface="Calibri"/>
              <a:ea typeface="Calibri"/>
              <a:cs typeface="Calibri"/>
              <a:sym typeface="Calibri"/>
            </a:endParaRPr>
          </a:p>
        </p:txBody>
      </p:sp>
      <p:sp>
        <p:nvSpPr>
          <p:cNvPr id="138" name="Google Shape;138;p3"/>
          <p:cNvSpPr txBox="1"/>
          <p:nvPr/>
        </p:nvSpPr>
        <p:spPr>
          <a:xfrm>
            <a:off x="488981" y="2099201"/>
            <a:ext cx="1586296" cy="572849"/>
          </a:xfrm>
          <a:prstGeom prst="rect">
            <a:avLst/>
          </a:prstGeom>
          <a:noFill/>
          <a:ln>
            <a:noFill/>
          </a:ln>
        </p:spPr>
        <p:txBody>
          <a:bodyPr anchorCtr="0" anchor="t" bIns="0" lIns="0" spcFirstLastPara="1" rIns="0" wrap="square" tIns="0">
            <a:spAutoFit/>
          </a:bodyPr>
          <a:lstStyle/>
          <a:p>
            <a:pPr indent="0" lvl="0" marL="0" marR="0" rtl="0" algn="r">
              <a:lnSpc>
                <a:spcPct val="102988"/>
              </a:lnSpc>
              <a:spcBef>
                <a:spcPts val="0"/>
              </a:spcBef>
              <a:spcAft>
                <a:spcPts val="0"/>
              </a:spcAft>
              <a:buNone/>
            </a:pPr>
            <a:r>
              <a:rPr lang="en-US" sz="1807">
                <a:solidFill>
                  <a:srgbClr val="D8CFFB"/>
                </a:solidFill>
                <a:latin typeface="Oswald"/>
                <a:ea typeface="Oswald"/>
                <a:cs typeface="Oswald"/>
                <a:sym typeface="Oswald"/>
              </a:rPr>
              <a:t>Eksplorasi dan cleaning</a:t>
            </a:r>
            <a:endParaRPr sz="1200">
              <a:solidFill>
                <a:schemeClr val="dk1"/>
              </a:solidFill>
              <a:latin typeface="Calibri"/>
              <a:ea typeface="Calibri"/>
              <a:cs typeface="Calibri"/>
              <a:sym typeface="Calibri"/>
            </a:endParaRPr>
          </a:p>
        </p:txBody>
      </p:sp>
      <p:sp>
        <p:nvSpPr>
          <p:cNvPr id="139" name="Google Shape;139;p3"/>
          <p:cNvSpPr txBox="1"/>
          <p:nvPr/>
        </p:nvSpPr>
        <p:spPr>
          <a:xfrm>
            <a:off x="169295" y="2708384"/>
            <a:ext cx="2019663" cy="1034129"/>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067">
                <a:solidFill>
                  <a:srgbClr val="000000"/>
                </a:solidFill>
                <a:latin typeface="Raleway"/>
                <a:ea typeface="Raleway"/>
                <a:cs typeface="Raleway"/>
                <a:sym typeface="Raleway"/>
              </a:rPr>
              <a:t>:  </a:t>
            </a:r>
            <a:r>
              <a:rPr lang="en-US" sz="1200">
                <a:solidFill>
                  <a:schemeClr val="dk1"/>
                </a:solidFill>
                <a:latin typeface="Calibri"/>
                <a:ea typeface="Calibri"/>
                <a:cs typeface="Calibri"/>
                <a:sym typeface="Calibri"/>
              </a:rPr>
              <a:t>Proses eksplorasi dan pembersihan data dilakukan menggunakan bahasa pemrograman </a:t>
            </a:r>
            <a:r>
              <a:rPr b="1" lang="en-US" sz="1200">
                <a:solidFill>
                  <a:schemeClr val="dk1"/>
                </a:solidFill>
                <a:latin typeface="Calibri"/>
                <a:ea typeface="Calibri"/>
                <a:cs typeface="Calibri"/>
                <a:sym typeface="Calibri"/>
              </a:rPr>
              <a:t>Python</a:t>
            </a:r>
            <a:r>
              <a:rPr lang="en-US"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grpSp>
        <p:nvGrpSpPr>
          <p:cNvPr id="140" name="Google Shape;140;p3"/>
          <p:cNvGrpSpPr/>
          <p:nvPr/>
        </p:nvGrpSpPr>
        <p:grpSpPr>
          <a:xfrm>
            <a:off x="7453352" y="4443027"/>
            <a:ext cx="1115618" cy="1114223"/>
            <a:chOff x="4160738" y="5000144"/>
            <a:chExt cx="1115618" cy="1114223"/>
          </a:xfrm>
        </p:grpSpPr>
        <p:sp>
          <p:nvSpPr>
            <p:cNvPr id="141" name="Google Shape;141;p3"/>
            <p:cNvSpPr/>
            <p:nvPr/>
          </p:nvSpPr>
          <p:spPr>
            <a:xfrm>
              <a:off x="4160738" y="5000144"/>
              <a:ext cx="1115618" cy="1114223"/>
            </a:xfrm>
            <a:custGeom>
              <a:rect b="b" l="l" r="r" t="t"/>
              <a:pathLst>
                <a:path extrusionOk="0" h="1671335" w="1673427">
                  <a:moveTo>
                    <a:pt x="0" y="0"/>
                  </a:moveTo>
                  <a:lnTo>
                    <a:pt x="1673426" y="0"/>
                  </a:lnTo>
                  <a:lnTo>
                    <a:pt x="1673426" y="1671335"/>
                  </a:lnTo>
                  <a:lnTo>
                    <a:pt x="0" y="1671335"/>
                  </a:lnTo>
                  <a:lnTo>
                    <a:pt x="0" y="0"/>
                  </a:lnTo>
                  <a:close/>
                </a:path>
              </a:pathLst>
            </a:custGeom>
            <a:blipFill rotWithShape="1">
              <a:blip r:embed="rId13">
                <a:alphaModFix/>
              </a:blip>
              <a:stretch>
                <a:fillRect b="0" l="0" r="0" t="0"/>
              </a:stretch>
            </a:blipFill>
            <a:ln>
              <a:noFill/>
            </a:ln>
          </p:spPr>
        </p:sp>
        <p:sp>
          <p:nvSpPr>
            <p:cNvPr id="142" name="Google Shape;142;p3"/>
            <p:cNvSpPr/>
            <p:nvPr/>
          </p:nvSpPr>
          <p:spPr>
            <a:xfrm>
              <a:off x="4449826" y="5234111"/>
              <a:ext cx="648720" cy="622771"/>
            </a:xfrm>
            <a:custGeom>
              <a:rect b="b" l="l" r="r" t="t"/>
              <a:pathLst>
                <a:path extrusionOk="0" h="934157" w="973080">
                  <a:moveTo>
                    <a:pt x="0" y="0"/>
                  </a:moveTo>
                  <a:lnTo>
                    <a:pt x="973080" y="0"/>
                  </a:lnTo>
                  <a:lnTo>
                    <a:pt x="973080" y="934157"/>
                  </a:lnTo>
                  <a:lnTo>
                    <a:pt x="0" y="934157"/>
                  </a:lnTo>
                  <a:lnTo>
                    <a:pt x="0" y="0"/>
                  </a:lnTo>
                  <a:close/>
                </a:path>
              </a:pathLst>
            </a:custGeom>
            <a:blipFill rotWithShape="1">
              <a:blip r:embed="rId14">
                <a:alphaModFix/>
              </a:blip>
              <a:stretch>
                <a:fillRect b="0" l="0" r="0" t="0"/>
              </a:stretch>
            </a:blipFill>
            <a:ln>
              <a:noFill/>
            </a:ln>
          </p:spPr>
        </p:sp>
      </p:grpSp>
      <p:grpSp>
        <p:nvGrpSpPr>
          <p:cNvPr id="143" name="Google Shape;143;p3"/>
          <p:cNvGrpSpPr/>
          <p:nvPr/>
        </p:nvGrpSpPr>
        <p:grpSpPr>
          <a:xfrm>
            <a:off x="1250209" y="4695661"/>
            <a:ext cx="2831981" cy="1730539"/>
            <a:chOff x="7252776" y="3584654"/>
            <a:chExt cx="2831981" cy="1730539"/>
          </a:xfrm>
        </p:grpSpPr>
        <p:sp>
          <p:nvSpPr>
            <p:cNvPr id="144" name="Google Shape;144;p3"/>
            <p:cNvSpPr txBox="1"/>
            <p:nvPr/>
          </p:nvSpPr>
          <p:spPr>
            <a:xfrm>
              <a:off x="9158757" y="3622751"/>
              <a:ext cx="926000" cy="676788"/>
            </a:xfrm>
            <a:prstGeom prst="rect">
              <a:avLst/>
            </a:prstGeom>
            <a:noFill/>
            <a:ln>
              <a:noFill/>
            </a:ln>
          </p:spPr>
          <p:txBody>
            <a:bodyPr anchorCtr="0" anchor="t" bIns="0" lIns="0" spcFirstLastPara="1" rIns="0" wrap="square" tIns="0">
              <a:spAutoFit/>
            </a:bodyPr>
            <a:lstStyle/>
            <a:p>
              <a:pPr indent="0" lvl="0" marL="0" marR="0" rtl="0" algn="ctr">
                <a:lnSpc>
                  <a:spcPct val="102997"/>
                </a:lnSpc>
                <a:spcBef>
                  <a:spcPts val="0"/>
                </a:spcBef>
                <a:spcAft>
                  <a:spcPts val="0"/>
                </a:spcAft>
                <a:buNone/>
              </a:pPr>
              <a:r>
                <a:rPr b="1" lang="en-US" sz="4270">
                  <a:solidFill>
                    <a:srgbClr val="C6AD94"/>
                  </a:solidFill>
                  <a:latin typeface="Oswald"/>
                  <a:ea typeface="Oswald"/>
                  <a:cs typeface="Oswald"/>
                  <a:sym typeface="Oswald"/>
                </a:rPr>
                <a:t>03.</a:t>
              </a:r>
              <a:endParaRPr sz="1200">
                <a:solidFill>
                  <a:schemeClr val="dk1"/>
                </a:solidFill>
                <a:latin typeface="Calibri"/>
                <a:ea typeface="Calibri"/>
                <a:cs typeface="Calibri"/>
                <a:sym typeface="Calibri"/>
              </a:endParaRPr>
            </a:p>
          </p:txBody>
        </p:sp>
        <p:sp>
          <p:nvSpPr>
            <p:cNvPr id="145" name="Google Shape;145;p3"/>
            <p:cNvSpPr txBox="1"/>
            <p:nvPr/>
          </p:nvSpPr>
          <p:spPr>
            <a:xfrm>
              <a:off x="7712331" y="3584654"/>
              <a:ext cx="1294000" cy="572849"/>
            </a:xfrm>
            <a:prstGeom prst="rect">
              <a:avLst/>
            </a:prstGeom>
            <a:noFill/>
            <a:ln>
              <a:noFill/>
            </a:ln>
          </p:spPr>
          <p:txBody>
            <a:bodyPr anchorCtr="0" anchor="t" bIns="0" lIns="0" spcFirstLastPara="1" rIns="0" wrap="square" tIns="0">
              <a:spAutoFit/>
            </a:bodyPr>
            <a:lstStyle/>
            <a:p>
              <a:pPr indent="0" lvl="0" marL="0" marR="0" rtl="0" algn="r">
                <a:lnSpc>
                  <a:spcPct val="102988"/>
                </a:lnSpc>
                <a:spcBef>
                  <a:spcPts val="0"/>
                </a:spcBef>
                <a:spcAft>
                  <a:spcPts val="0"/>
                </a:spcAft>
                <a:buNone/>
              </a:pPr>
              <a:r>
                <a:rPr lang="en-US" sz="1807">
                  <a:solidFill>
                    <a:srgbClr val="C6AD94"/>
                  </a:solidFill>
                  <a:latin typeface="Oswald"/>
                  <a:ea typeface="Oswald"/>
                  <a:cs typeface="Oswald"/>
                  <a:sym typeface="Oswald"/>
                </a:rPr>
                <a:t>Database Management</a:t>
              </a:r>
              <a:endParaRPr sz="1200">
                <a:solidFill>
                  <a:schemeClr val="dk1"/>
                </a:solidFill>
                <a:latin typeface="Calibri"/>
                <a:ea typeface="Calibri"/>
                <a:cs typeface="Calibri"/>
                <a:sym typeface="Calibri"/>
              </a:endParaRPr>
            </a:p>
          </p:txBody>
        </p:sp>
        <p:sp>
          <p:nvSpPr>
            <p:cNvPr id="146" name="Google Shape;146;p3"/>
            <p:cNvSpPr txBox="1"/>
            <p:nvPr/>
          </p:nvSpPr>
          <p:spPr>
            <a:xfrm>
              <a:off x="7252776" y="3893265"/>
              <a:ext cx="1753600" cy="1421928"/>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br>
                <a:rPr lang="en-US" sz="1100">
                  <a:solidFill>
                    <a:schemeClr val="dk1"/>
                  </a:solidFill>
                  <a:latin typeface="Calibri"/>
                  <a:ea typeface="Calibri"/>
                  <a:cs typeface="Calibri"/>
                  <a:sym typeface="Calibri"/>
                </a:rPr>
              </a:br>
              <a:r>
                <a:rPr lang="en-US" sz="1100">
                  <a:solidFill>
                    <a:schemeClr val="dk1"/>
                  </a:solidFill>
                  <a:latin typeface="Calibri"/>
                  <a:ea typeface="Calibri"/>
                  <a:cs typeface="Calibri"/>
                  <a:sym typeface="Calibri"/>
                </a:rPr>
                <a:t>data yang telah dibersihkan diekspor dan disimpan ke dalam </a:t>
              </a:r>
              <a:r>
                <a:rPr i="1" lang="en-US" sz="1100">
                  <a:solidFill>
                    <a:schemeClr val="dk1"/>
                  </a:solidFill>
                  <a:latin typeface="Calibri"/>
                  <a:ea typeface="Calibri"/>
                  <a:cs typeface="Calibri"/>
                  <a:sym typeface="Calibri"/>
                </a:rPr>
                <a:t>database</a:t>
              </a:r>
              <a:r>
                <a:rPr lang="en-US" sz="1100">
                  <a:solidFill>
                    <a:schemeClr val="dk1"/>
                  </a:solidFill>
                  <a:latin typeface="Calibri"/>
                  <a:ea typeface="Calibri"/>
                  <a:cs typeface="Calibri"/>
                  <a:sym typeface="Calibri"/>
                </a:rPr>
                <a:t> </a:t>
              </a:r>
              <a:r>
                <a:rPr b="1" lang="en-US" sz="1100">
                  <a:solidFill>
                    <a:schemeClr val="dk1"/>
                  </a:solidFill>
                  <a:latin typeface="Calibri"/>
                  <a:ea typeface="Calibri"/>
                  <a:cs typeface="Calibri"/>
                  <a:sym typeface="Calibri"/>
                </a:rPr>
                <a:t>MySQL</a:t>
              </a:r>
              <a:r>
                <a:rPr lang="en-US" sz="1100">
                  <a:solidFill>
                    <a:schemeClr val="dk1"/>
                  </a:solidFill>
                  <a:latin typeface="Calibri"/>
                  <a:ea typeface="Calibri"/>
                  <a:cs typeface="Calibri"/>
                  <a:sym typeface="Calibri"/>
                </a:rPr>
                <a:t> untuk validasi dan pengelolaan yang lebih terstruktur</a:t>
              </a:r>
              <a:endParaRPr sz="1200">
                <a:solidFill>
                  <a:schemeClr val="dk1"/>
                </a:solidFill>
                <a:latin typeface="Calibri"/>
                <a:ea typeface="Calibri"/>
                <a:cs typeface="Calibri"/>
                <a:sym typeface="Calibri"/>
              </a:endParaRPr>
            </a:p>
          </p:txBody>
        </p:sp>
      </p:grpSp>
      <p:grpSp>
        <p:nvGrpSpPr>
          <p:cNvPr id="147" name="Google Shape;147;p3"/>
          <p:cNvGrpSpPr/>
          <p:nvPr/>
        </p:nvGrpSpPr>
        <p:grpSpPr>
          <a:xfrm>
            <a:off x="8674914" y="4468585"/>
            <a:ext cx="2610931" cy="2021591"/>
            <a:chOff x="855493" y="5183696"/>
            <a:chExt cx="2074411" cy="1366855"/>
          </a:xfrm>
        </p:grpSpPr>
        <p:grpSp>
          <p:nvGrpSpPr>
            <p:cNvPr id="148" name="Google Shape;148;p3"/>
            <p:cNvGrpSpPr/>
            <p:nvPr/>
          </p:nvGrpSpPr>
          <p:grpSpPr>
            <a:xfrm>
              <a:off x="855493" y="5183696"/>
              <a:ext cx="1722907" cy="676788"/>
              <a:chOff x="855493" y="5183696"/>
              <a:chExt cx="1722907" cy="676788"/>
            </a:xfrm>
          </p:grpSpPr>
          <p:sp>
            <p:nvSpPr>
              <p:cNvPr id="149" name="Google Shape;149;p3"/>
              <p:cNvSpPr txBox="1"/>
              <p:nvPr/>
            </p:nvSpPr>
            <p:spPr>
              <a:xfrm>
                <a:off x="855493" y="5183696"/>
                <a:ext cx="926000" cy="676788"/>
              </a:xfrm>
              <a:prstGeom prst="rect">
                <a:avLst/>
              </a:prstGeom>
              <a:noFill/>
              <a:ln>
                <a:noFill/>
              </a:ln>
            </p:spPr>
            <p:txBody>
              <a:bodyPr anchorCtr="0" anchor="t" bIns="0" lIns="0" spcFirstLastPara="1" rIns="0" wrap="square" tIns="0">
                <a:spAutoFit/>
              </a:bodyPr>
              <a:lstStyle/>
              <a:p>
                <a:pPr indent="0" lvl="0" marL="0" marR="0" rtl="0" algn="ctr">
                  <a:lnSpc>
                    <a:spcPct val="102997"/>
                  </a:lnSpc>
                  <a:spcBef>
                    <a:spcPts val="0"/>
                  </a:spcBef>
                  <a:spcAft>
                    <a:spcPts val="0"/>
                  </a:spcAft>
                  <a:buNone/>
                </a:pPr>
                <a:r>
                  <a:rPr b="1" lang="en-US" sz="4270">
                    <a:solidFill>
                      <a:srgbClr val="C9D9FC"/>
                    </a:solidFill>
                    <a:latin typeface="Oswald"/>
                    <a:ea typeface="Oswald"/>
                    <a:cs typeface="Oswald"/>
                    <a:sym typeface="Oswald"/>
                  </a:rPr>
                  <a:t>04.</a:t>
                </a:r>
                <a:endParaRPr sz="1200">
                  <a:solidFill>
                    <a:schemeClr val="dk1"/>
                  </a:solidFill>
                  <a:latin typeface="Calibri"/>
                  <a:ea typeface="Calibri"/>
                  <a:cs typeface="Calibri"/>
                  <a:sym typeface="Calibri"/>
                </a:endParaRPr>
              </a:p>
            </p:txBody>
          </p:sp>
          <p:sp>
            <p:nvSpPr>
              <p:cNvPr id="150" name="Google Shape;150;p3"/>
              <p:cNvSpPr txBox="1"/>
              <p:nvPr/>
            </p:nvSpPr>
            <p:spPr>
              <a:xfrm>
                <a:off x="1127200" y="5276150"/>
                <a:ext cx="1451200" cy="193660"/>
              </a:xfrm>
              <a:prstGeom prst="rect">
                <a:avLst/>
              </a:prstGeom>
              <a:noFill/>
              <a:ln>
                <a:noFill/>
              </a:ln>
            </p:spPr>
            <p:txBody>
              <a:bodyPr anchorCtr="0" anchor="t" bIns="0" lIns="0" spcFirstLastPara="1" rIns="0" wrap="square" tIns="0">
                <a:spAutoFit/>
              </a:bodyPr>
              <a:lstStyle/>
              <a:p>
                <a:pPr indent="0" lvl="0" marL="0" marR="0" rtl="0" algn="r">
                  <a:lnSpc>
                    <a:spcPct val="102988"/>
                  </a:lnSpc>
                  <a:spcBef>
                    <a:spcPts val="0"/>
                  </a:spcBef>
                  <a:spcAft>
                    <a:spcPts val="0"/>
                  </a:spcAft>
                  <a:buNone/>
                </a:pPr>
                <a:r>
                  <a:rPr lang="en-US" sz="1807">
                    <a:solidFill>
                      <a:srgbClr val="C9D9FC"/>
                    </a:solidFill>
                    <a:latin typeface="Oswald"/>
                    <a:ea typeface="Oswald"/>
                    <a:cs typeface="Oswald"/>
                    <a:sym typeface="Oswald"/>
                  </a:rPr>
                  <a:t>Querying Mysql</a:t>
                </a:r>
                <a:endParaRPr sz="1200">
                  <a:solidFill>
                    <a:schemeClr val="dk1"/>
                  </a:solidFill>
                  <a:latin typeface="Calibri"/>
                  <a:ea typeface="Calibri"/>
                  <a:cs typeface="Calibri"/>
                  <a:sym typeface="Calibri"/>
                </a:endParaRPr>
              </a:p>
            </p:txBody>
          </p:sp>
        </p:grpSp>
        <p:sp>
          <p:nvSpPr>
            <p:cNvPr id="151" name="Google Shape;151;p3"/>
            <p:cNvSpPr txBox="1"/>
            <p:nvPr/>
          </p:nvSpPr>
          <p:spPr>
            <a:xfrm>
              <a:off x="1176304" y="5602599"/>
              <a:ext cx="1753600" cy="94795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100">
                  <a:solidFill>
                    <a:schemeClr val="dk1"/>
                  </a:solidFill>
                  <a:latin typeface="Calibri"/>
                  <a:ea typeface="Calibri"/>
                  <a:cs typeface="Calibri"/>
                  <a:sym typeface="Calibri"/>
                </a:rPr>
                <a:t>Querying</a:t>
              </a:r>
              <a:r>
                <a:rPr lang="en-US" sz="1100">
                  <a:solidFill>
                    <a:schemeClr val="dk1"/>
                  </a:solidFill>
                  <a:latin typeface="Calibri"/>
                  <a:ea typeface="Calibri"/>
                  <a:cs typeface="Calibri"/>
                  <a:sym typeface="Calibri"/>
                </a:rPr>
                <a:t> </a:t>
              </a:r>
              <a:r>
                <a:rPr b="1" lang="en-US" sz="1100">
                  <a:solidFill>
                    <a:schemeClr val="dk1"/>
                  </a:solidFill>
                  <a:latin typeface="Calibri"/>
                  <a:ea typeface="Calibri"/>
                  <a:cs typeface="Calibri"/>
                  <a:sym typeface="Calibri"/>
                </a:rPr>
                <a:t>MySQL</a:t>
              </a:r>
              <a:r>
                <a:rPr lang="en-US" sz="1100">
                  <a:solidFill>
                    <a:schemeClr val="dk1"/>
                  </a:solidFill>
                  <a:latin typeface="Calibri"/>
                  <a:ea typeface="Calibri"/>
                  <a:cs typeface="Calibri"/>
                  <a:sym typeface="Calibri"/>
                </a:rPr>
                <a:t> : digunakan untuk validasi ulang hasil analisis dari Python dan untuk membuat </a:t>
              </a:r>
              <a:r>
                <a:rPr i="1" lang="en-US" sz="1100">
                  <a:solidFill>
                    <a:schemeClr val="dk1"/>
                  </a:solidFill>
                  <a:latin typeface="Calibri"/>
                  <a:ea typeface="Calibri"/>
                  <a:cs typeface="Calibri"/>
                  <a:sym typeface="Calibri"/>
                </a:rPr>
                <a:t>view</a:t>
              </a:r>
              <a:r>
                <a:rPr lang="en-US" sz="1100">
                  <a:solidFill>
                    <a:schemeClr val="dk1"/>
                  </a:solidFill>
                  <a:latin typeface="Calibri"/>
                  <a:ea typeface="Calibri"/>
                  <a:cs typeface="Calibri"/>
                  <a:sym typeface="Calibri"/>
                </a:rPr>
                <a:t> data yang dioptimalkan untuk visualisasi.</a:t>
              </a:r>
              <a:endParaRPr sz="1200">
                <a:solidFill>
                  <a:schemeClr val="dk1"/>
                </a:solidFill>
                <a:latin typeface="Calibri"/>
                <a:ea typeface="Calibri"/>
                <a:cs typeface="Calibri"/>
                <a:sym typeface="Calibri"/>
              </a:endParaRPr>
            </a:p>
          </p:txBody>
        </p:sp>
      </p:grpSp>
      <p:grpSp>
        <p:nvGrpSpPr>
          <p:cNvPr id="152" name="Google Shape;152;p3"/>
          <p:cNvGrpSpPr/>
          <p:nvPr/>
        </p:nvGrpSpPr>
        <p:grpSpPr>
          <a:xfrm>
            <a:off x="8549061" y="1711818"/>
            <a:ext cx="2762202" cy="1742816"/>
            <a:chOff x="8077540" y="929234"/>
            <a:chExt cx="2762202" cy="1742816"/>
          </a:xfrm>
        </p:grpSpPr>
        <p:sp>
          <p:nvSpPr>
            <p:cNvPr id="153" name="Google Shape;153;p3"/>
            <p:cNvSpPr txBox="1"/>
            <p:nvPr/>
          </p:nvSpPr>
          <p:spPr>
            <a:xfrm>
              <a:off x="8077540" y="967329"/>
              <a:ext cx="926000" cy="676788"/>
            </a:xfrm>
            <a:prstGeom prst="rect">
              <a:avLst/>
            </a:prstGeom>
            <a:noFill/>
            <a:ln>
              <a:noFill/>
            </a:ln>
          </p:spPr>
          <p:txBody>
            <a:bodyPr anchorCtr="0" anchor="t" bIns="0" lIns="0" spcFirstLastPara="1" rIns="0" wrap="square" tIns="0">
              <a:spAutoFit/>
            </a:bodyPr>
            <a:lstStyle/>
            <a:p>
              <a:pPr indent="0" lvl="0" marL="0" marR="0" rtl="0" algn="ctr">
                <a:lnSpc>
                  <a:spcPct val="102997"/>
                </a:lnSpc>
                <a:spcBef>
                  <a:spcPts val="0"/>
                </a:spcBef>
                <a:spcAft>
                  <a:spcPts val="0"/>
                </a:spcAft>
                <a:buNone/>
              </a:pPr>
              <a:r>
                <a:rPr b="1" lang="en-US" sz="4270">
                  <a:solidFill>
                    <a:srgbClr val="F1CFDC"/>
                  </a:solidFill>
                  <a:latin typeface="Oswald"/>
                  <a:ea typeface="Oswald"/>
                  <a:cs typeface="Oswald"/>
                  <a:sym typeface="Oswald"/>
                </a:rPr>
                <a:t>05.</a:t>
              </a:r>
              <a:endParaRPr sz="1200">
                <a:solidFill>
                  <a:schemeClr val="dk1"/>
                </a:solidFill>
                <a:latin typeface="Calibri"/>
                <a:ea typeface="Calibri"/>
                <a:cs typeface="Calibri"/>
                <a:sym typeface="Calibri"/>
              </a:endParaRPr>
            </a:p>
          </p:txBody>
        </p:sp>
        <p:sp>
          <p:nvSpPr>
            <p:cNvPr id="154" name="Google Shape;154;p3"/>
            <p:cNvSpPr txBox="1"/>
            <p:nvPr/>
          </p:nvSpPr>
          <p:spPr>
            <a:xfrm>
              <a:off x="9086153" y="929234"/>
              <a:ext cx="1294000" cy="572849"/>
            </a:xfrm>
            <a:prstGeom prst="rect">
              <a:avLst/>
            </a:prstGeom>
            <a:noFill/>
            <a:ln>
              <a:noFill/>
            </a:ln>
          </p:spPr>
          <p:txBody>
            <a:bodyPr anchorCtr="0" anchor="t" bIns="0" lIns="0" spcFirstLastPara="1" rIns="0" wrap="square" tIns="0">
              <a:spAutoFit/>
            </a:bodyPr>
            <a:lstStyle/>
            <a:p>
              <a:pPr indent="0" lvl="0" marL="0" marR="0" rtl="0" algn="l">
                <a:lnSpc>
                  <a:spcPct val="102988"/>
                </a:lnSpc>
                <a:spcBef>
                  <a:spcPts val="0"/>
                </a:spcBef>
                <a:spcAft>
                  <a:spcPts val="0"/>
                </a:spcAft>
                <a:buNone/>
              </a:pPr>
              <a:r>
                <a:rPr lang="en-US" sz="1807">
                  <a:solidFill>
                    <a:srgbClr val="F1CFDC"/>
                  </a:solidFill>
                  <a:latin typeface="Oswald"/>
                  <a:ea typeface="Oswald"/>
                  <a:cs typeface="Oswald"/>
                  <a:sym typeface="Oswald"/>
                </a:rPr>
                <a:t>Visualisasi Data</a:t>
              </a:r>
              <a:endParaRPr sz="1200">
                <a:solidFill>
                  <a:schemeClr val="dk1"/>
                </a:solidFill>
                <a:latin typeface="Calibri"/>
                <a:ea typeface="Calibri"/>
                <a:cs typeface="Calibri"/>
                <a:sym typeface="Calibri"/>
              </a:endParaRPr>
            </a:p>
          </p:txBody>
        </p:sp>
        <p:sp>
          <p:nvSpPr>
            <p:cNvPr id="155" name="Google Shape;155;p3"/>
            <p:cNvSpPr txBox="1"/>
            <p:nvPr/>
          </p:nvSpPr>
          <p:spPr>
            <a:xfrm>
              <a:off x="9086142" y="1250122"/>
              <a:ext cx="1753600" cy="142192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1100">
                  <a:solidFill>
                    <a:schemeClr val="dk1"/>
                  </a:solidFill>
                  <a:latin typeface="Calibri"/>
                  <a:ea typeface="Calibri"/>
                  <a:cs typeface="Calibri"/>
                  <a:sym typeface="Calibri"/>
                </a:rPr>
                <a:t>Visualisasi Data</a:t>
              </a:r>
              <a:r>
                <a:rPr lang="en-US" sz="1100">
                  <a:solidFill>
                    <a:schemeClr val="dk1"/>
                  </a:solidFill>
                  <a:latin typeface="Calibri"/>
                  <a:ea typeface="Calibri"/>
                  <a:cs typeface="Calibri"/>
                  <a:sym typeface="Calibri"/>
                </a:rPr>
                <a:t>: </a:t>
              </a:r>
              <a:r>
                <a:rPr b="1" lang="en-US" sz="1100">
                  <a:solidFill>
                    <a:schemeClr val="dk1"/>
                  </a:solidFill>
                  <a:latin typeface="Calibri"/>
                  <a:ea typeface="Calibri"/>
                  <a:cs typeface="Calibri"/>
                  <a:sym typeface="Calibri"/>
                </a:rPr>
                <a:t>Power BI</a:t>
              </a:r>
              <a:r>
                <a:rPr lang="en-US" sz="1100">
                  <a:solidFill>
                    <a:schemeClr val="dk1"/>
                  </a:solidFill>
                  <a:latin typeface="Calibri"/>
                  <a:ea typeface="Calibri"/>
                  <a:cs typeface="Calibri"/>
                  <a:sym typeface="Calibri"/>
                </a:rPr>
                <a:t> digunakan untuk menciptakan visualisasi data yang interaktif dan </a:t>
              </a:r>
              <a:r>
                <a:rPr i="1" lang="en-US" sz="1100">
                  <a:solidFill>
                    <a:schemeClr val="dk1"/>
                  </a:solidFill>
                  <a:latin typeface="Calibri"/>
                  <a:ea typeface="Calibri"/>
                  <a:cs typeface="Calibri"/>
                  <a:sym typeface="Calibri"/>
                </a:rPr>
                <a:t>dashboard</a:t>
              </a:r>
              <a:r>
                <a:rPr lang="en-US" sz="1100">
                  <a:solidFill>
                    <a:schemeClr val="dk1"/>
                  </a:solidFill>
                  <a:latin typeface="Calibri"/>
                  <a:ea typeface="Calibri"/>
                  <a:cs typeface="Calibri"/>
                  <a:sym typeface="Calibri"/>
                </a:rPr>
                <a:t> yang komprehensif, memudahkan interpretasi wawasan bisnis</a:t>
              </a:r>
              <a:endParaRPr sz="1200">
                <a:solidFill>
                  <a:schemeClr val="dk1"/>
                </a:solidFill>
                <a:latin typeface="Calibri"/>
                <a:ea typeface="Calibri"/>
                <a:cs typeface="Calibri"/>
                <a:sym typeface="Calibri"/>
              </a:endParaRPr>
            </a:p>
          </p:txBody>
        </p:sp>
      </p:grpSp>
      <p:sp>
        <p:nvSpPr>
          <p:cNvPr id="156" name="Google Shape;156;p3"/>
          <p:cNvSpPr txBox="1"/>
          <p:nvPr/>
        </p:nvSpPr>
        <p:spPr>
          <a:xfrm>
            <a:off x="4782494" y="2953721"/>
            <a:ext cx="2573600" cy="1063625"/>
          </a:xfrm>
          <a:prstGeom prst="rect">
            <a:avLst/>
          </a:prstGeom>
          <a:noFill/>
          <a:ln>
            <a:noFill/>
          </a:ln>
        </p:spPr>
        <p:txBody>
          <a:bodyPr anchorCtr="0" anchor="t" bIns="0" lIns="0" spcFirstLastPara="1" rIns="0" wrap="square" tIns="0">
            <a:spAutoFit/>
          </a:bodyPr>
          <a:lstStyle/>
          <a:p>
            <a:pPr indent="0" lvl="0" marL="0" marR="0" rtl="0" algn="ctr">
              <a:lnSpc>
                <a:spcPct val="144013"/>
              </a:lnSpc>
              <a:spcBef>
                <a:spcPts val="0"/>
              </a:spcBef>
              <a:spcAft>
                <a:spcPts val="0"/>
              </a:spcAft>
              <a:buNone/>
            </a:pPr>
            <a:r>
              <a:rPr lang="en-US" sz="2400">
                <a:solidFill>
                  <a:srgbClr val="1A1716"/>
                </a:solidFill>
                <a:latin typeface="Oswald"/>
                <a:ea typeface="Oswald"/>
                <a:cs typeface="Oswald"/>
                <a:sym typeface="Oswald"/>
              </a:rPr>
              <a:t>PROSES ANALISA DAN PENGGUNAAN TOOLS</a:t>
            </a:r>
            <a:endParaRPr sz="2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title"/>
          </p:nvPr>
        </p:nvSpPr>
        <p:spPr>
          <a:xfrm>
            <a:off x="788894" y="612869"/>
            <a:ext cx="11403106" cy="7913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Dataset</a:t>
            </a:r>
            <a:endParaRPr/>
          </a:p>
        </p:txBody>
      </p:sp>
      <p:sp>
        <p:nvSpPr>
          <p:cNvPr id="162" name="Google Shape;162;p4"/>
          <p:cNvSpPr txBox="1"/>
          <p:nvPr>
            <p:ph idx="12" type="sldNum"/>
          </p:nvPr>
        </p:nvSpPr>
        <p:spPr>
          <a:xfrm>
            <a:off x="11445505" y="6414220"/>
            <a:ext cx="285741" cy="249385"/>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grpSp>
        <p:nvGrpSpPr>
          <p:cNvPr id="163" name="Google Shape;163;p4"/>
          <p:cNvGrpSpPr/>
          <p:nvPr/>
        </p:nvGrpSpPr>
        <p:grpSpPr>
          <a:xfrm>
            <a:off x="0" y="4954136"/>
            <a:ext cx="12192000" cy="1909138"/>
            <a:chOff x="0" y="4948862"/>
            <a:chExt cx="12192000" cy="1909138"/>
          </a:xfrm>
        </p:grpSpPr>
        <p:sp>
          <p:nvSpPr>
            <p:cNvPr id="164" name="Google Shape;164;p4"/>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65" name="Google Shape;165;p4"/>
            <p:cNvSpPr/>
            <p:nvPr/>
          </p:nvSpPr>
          <p:spPr>
            <a:xfrm>
              <a:off x="0" y="5563852"/>
              <a:ext cx="12192000" cy="1294147"/>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pic>
        <p:nvPicPr>
          <p:cNvPr id="166" name="Google Shape;166;p4"/>
          <p:cNvPicPr preferRelativeResize="0"/>
          <p:nvPr/>
        </p:nvPicPr>
        <p:blipFill rotWithShape="1">
          <a:blip r:embed="rId3">
            <a:alphaModFix/>
          </a:blip>
          <a:srcRect b="0" l="0" r="0" t="0"/>
          <a:stretch/>
        </p:blipFill>
        <p:spPr>
          <a:xfrm>
            <a:off x="2589284" y="1670753"/>
            <a:ext cx="6262485" cy="493786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5"/>
          <p:cNvSpPr txBox="1"/>
          <p:nvPr>
            <p:ph type="title"/>
          </p:nvPr>
        </p:nvSpPr>
        <p:spPr>
          <a:xfrm>
            <a:off x="788894" y="612869"/>
            <a:ext cx="11403106" cy="7913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Overview Dashboard</a:t>
            </a:r>
            <a:endParaRPr/>
          </a:p>
        </p:txBody>
      </p:sp>
      <p:sp>
        <p:nvSpPr>
          <p:cNvPr id="172" name="Google Shape;172;p5"/>
          <p:cNvSpPr txBox="1"/>
          <p:nvPr>
            <p:ph idx="12" type="sldNum"/>
          </p:nvPr>
        </p:nvSpPr>
        <p:spPr>
          <a:xfrm>
            <a:off x="11445505" y="6414220"/>
            <a:ext cx="285741" cy="249385"/>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grpSp>
        <p:nvGrpSpPr>
          <p:cNvPr id="173" name="Google Shape;173;p5"/>
          <p:cNvGrpSpPr/>
          <p:nvPr/>
        </p:nvGrpSpPr>
        <p:grpSpPr>
          <a:xfrm>
            <a:off x="0" y="4954136"/>
            <a:ext cx="12192000" cy="1909138"/>
            <a:chOff x="0" y="4948862"/>
            <a:chExt cx="12192000" cy="1909138"/>
          </a:xfrm>
        </p:grpSpPr>
        <p:sp>
          <p:nvSpPr>
            <p:cNvPr id="174" name="Google Shape;174;p5"/>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75" name="Google Shape;175;p5"/>
            <p:cNvSpPr/>
            <p:nvPr/>
          </p:nvSpPr>
          <p:spPr>
            <a:xfrm>
              <a:off x="0" y="5563852"/>
              <a:ext cx="12192000" cy="1294147"/>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pic>
        <p:nvPicPr>
          <p:cNvPr id="176" name="Google Shape;176;p5"/>
          <p:cNvPicPr preferRelativeResize="0"/>
          <p:nvPr/>
        </p:nvPicPr>
        <p:blipFill>
          <a:blip r:embed="rId3">
            <a:alphaModFix/>
          </a:blip>
          <a:stretch>
            <a:fillRect/>
          </a:stretch>
        </p:blipFill>
        <p:spPr>
          <a:xfrm>
            <a:off x="2003950" y="1331125"/>
            <a:ext cx="7356670" cy="5259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83bff2ae30_0_8"/>
          <p:cNvSpPr txBox="1"/>
          <p:nvPr>
            <p:ph type="title"/>
          </p:nvPr>
        </p:nvSpPr>
        <p:spPr>
          <a:xfrm>
            <a:off x="788994" y="417969"/>
            <a:ext cx="11403000" cy="791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SALES &amp; PRODUCT DASHBOARD</a:t>
            </a:r>
            <a:endParaRPr/>
          </a:p>
        </p:txBody>
      </p:sp>
      <p:sp>
        <p:nvSpPr>
          <p:cNvPr id="182" name="Google Shape;182;g383bff2ae30_0_8"/>
          <p:cNvSpPr txBox="1"/>
          <p:nvPr>
            <p:ph idx="12" type="sldNum"/>
          </p:nvPr>
        </p:nvSpPr>
        <p:spPr>
          <a:xfrm>
            <a:off x="11445505" y="6414220"/>
            <a:ext cx="285600" cy="24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grpSp>
        <p:nvGrpSpPr>
          <p:cNvPr id="183" name="Google Shape;183;g383bff2ae30_0_8"/>
          <p:cNvGrpSpPr/>
          <p:nvPr/>
        </p:nvGrpSpPr>
        <p:grpSpPr>
          <a:xfrm>
            <a:off x="0" y="4954136"/>
            <a:ext cx="12192000" cy="1909138"/>
            <a:chOff x="0" y="4948862"/>
            <a:chExt cx="12192000" cy="1909138"/>
          </a:xfrm>
        </p:grpSpPr>
        <p:sp>
          <p:nvSpPr>
            <p:cNvPr id="184" name="Google Shape;184;g383bff2ae30_0_8"/>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85" name="Google Shape;185;g383bff2ae30_0_8"/>
            <p:cNvSpPr/>
            <p:nvPr/>
          </p:nvSpPr>
          <p:spPr>
            <a:xfrm>
              <a:off x="0" y="5563852"/>
              <a:ext cx="12192000" cy="1293441"/>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pic>
        <p:nvPicPr>
          <p:cNvPr id="186" name="Google Shape;186;g383bff2ae30_0_8"/>
          <p:cNvPicPr preferRelativeResize="0"/>
          <p:nvPr/>
        </p:nvPicPr>
        <p:blipFill>
          <a:blip r:embed="rId3">
            <a:alphaModFix/>
          </a:blip>
          <a:stretch>
            <a:fillRect/>
          </a:stretch>
        </p:blipFill>
        <p:spPr>
          <a:xfrm>
            <a:off x="849900" y="1178727"/>
            <a:ext cx="8981649" cy="4500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83bff2ae30_0_18"/>
          <p:cNvSpPr txBox="1"/>
          <p:nvPr>
            <p:ph type="title"/>
          </p:nvPr>
        </p:nvSpPr>
        <p:spPr>
          <a:xfrm>
            <a:off x="788994" y="417969"/>
            <a:ext cx="11403000" cy="791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CUSTOMER &amp; COUNTRY DASHBOARD</a:t>
            </a:r>
            <a:endParaRPr/>
          </a:p>
        </p:txBody>
      </p:sp>
      <p:sp>
        <p:nvSpPr>
          <p:cNvPr id="192" name="Google Shape;192;g383bff2ae30_0_18"/>
          <p:cNvSpPr txBox="1"/>
          <p:nvPr>
            <p:ph idx="12" type="sldNum"/>
          </p:nvPr>
        </p:nvSpPr>
        <p:spPr>
          <a:xfrm>
            <a:off x="11445505" y="6414220"/>
            <a:ext cx="285600" cy="24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grpSp>
        <p:nvGrpSpPr>
          <p:cNvPr id="193" name="Google Shape;193;g383bff2ae30_0_18"/>
          <p:cNvGrpSpPr/>
          <p:nvPr/>
        </p:nvGrpSpPr>
        <p:grpSpPr>
          <a:xfrm>
            <a:off x="0" y="4954136"/>
            <a:ext cx="12192000" cy="1909138"/>
            <a:chOff x="0" y="4948862"/>
            <a:chExt cx="12192000" cy="1909138"/>
          </a:xfrm>
        </p:grpSpPr>
        <p:sp>
          <p:nvSpPr>
            <p:cNvPr id="194" name="Google Shape;194;g383bff2ae30_0_18"/>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95" name="Google Shape;195;g383bff2ae30_0_18"/>
            <p:cNvSpPr/>
            <p:nvPr/>
          </p:nvSpPr>
          <p:spPr>
            <a:xfrm>
              <a:off x="0" y="5563852"/>
              <a:ext cx="12192000" cy="1293441"/>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pic>
        <p:nvPicPr>
          <p:cNvPr id="196" name="Google Shape;196;g383bff2ae30_0_18"/>
          <p:cNvPicPr preferRelativeResize="0"/>
          <p:nvPr/>
        </p:nvPicPr>
        <p:blipFill>
          <a:blip r:embed="rId3">
            <a:alphaModFix/>
          </a:blip>
          <a:stretch>
            <a:fillRect/>
          </a:stretch>
        </p:blipFill>
        <p:spPr>
          <a:xfrm>
            <a:off x="1516700" y="1398352"/>
            <a:ext cx="7741249" cy="4341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6"/>
          <p:cNvSpPr txBox="1"/>
          <p:nvPr>
            <p:ph type="title"/>
          </p:nvPr>
        </p:nvSpPr>
        <p:spPr>
          <a:xfrm>
            <a:off x="236633" y="600356"/>
            <a:ext cx="5421791" cy="7395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Analisis 1</a:t>
            </a:r>
            <a:endParaRPr/>
          </a:p>
        </p:txBody>
      </p:sp>
      <p:sp>
        <p:nvSpPr>
          <p:cNvPr id="202" name="Google Shape;202;p6"/>
          <p:cNvSpPr txBox="1"/>
          <p:nvPr>
            <p:ph idx="1" type="body"/>
          </p:nvPr>
        </p:nvSpPr>
        <p:spPr>
          <a:xfrm>
            <a:off x="6096000" y="1681934"/>
            <a:ext cx="5871882" cy="193665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Font typeface="Quattrocento Sans"/>
              <a:buNone/>
            </a:pPr>
            <a:r>
              <a:rPr lang="en-US" sz="1600"/>
              <a:t>Grafik ini menunjukkan tren pendapatan bulanan perusahaan dari Desember 2010 hingga Desember 2011. Secara keseluruhan, pendapatan perusahaan menunjukkan </a:t>
            </a:r>
            <a:r>
              <a:rPr b="1" lang="en-US" sz="1600"/>
              <a:t>tren naik yang kuat</a:t>
            </a:r>
            <a:r>
              <a:rPr lang="en-US" sz="1600"/>
              <a:t> sepanjang tahun 2011, meskipun ada fluktuasi di beberapa bulan. Puncak pendapatan tertinggi terjadi pada </a:t>
            </a:r>
            <a:r>
              <a:rPr b="1" lang="en-US" sz="1600"/>
              <a:t>November 2011</a:t>
            </a:r>
            <a:endParaRPr/>
          </a:p>
        </p:txBody>
      </p:sp>
      <p:sp>
        <p:nvSpPr>
          <p:cNvPr id="203" name="Google Shape;203;p6"/>
          <p:cNvSpPr txBox="1"/>
          <p:nvPr>
            <p:ph idx="12" type="sldNum"/>
          </p:nvPr>
        </p:nvSpPr>
        <p:spPr>
          <a:xfrm>
            <a:off x="11445505" y="6414220"/>
            <a:ext cx="285741" cy="249385"/>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pic>
        <p:nvPicPr>
          <p:cNvPr id="204" name="Google Shape;204;p6"/>
          <p:cNvPicPr preferRelativeResize="0"/>
          <p:nvPr/>
        </p:nvPicPr>
        <p:blipFill rotWithShape="1">
          <a:blip r:embed="rId3">
            <a:alphaModFix/>
          </a:blip>
          <a:srcRect b="0" l="0" r="0" t="0"/>
          <a:stretch/>
        </p:blipFill>
        <p:spPr>
          <a:xfrm>
            <a:off x="224118" y="1681934"/>
            <a:ext cx="5590424" cy="2577353"/>
          </a:xfrm>
          <a:prstGeom prst="rect">
            <a:avLst/>
          </a:prstGeom>
          <a:noFill/>
          <a:ln>
            <a:noFill/>
          </a:ln>
        </p:spPr>
      </p:pic>
      <p:sp>
        <p:nvSpPr>
          <p:cNvPr id="205" name="Google Shape;205;p6"/>
          <p:cNvSpPr txBox="1"/>
          <p:nvPr/>
        </p:nvSpPr>
        <p:spPr>
          <a:xfrm>
            <a:off x="1264023" y="4602255"/>
            <a:ext cx="9368118" cy="193665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600"/>
              <a:buFont typeface="Quattrocento Sans"/>
              <a:buNone/>
            </a:pPr>
            <a:r>
              <a:rPr b="1" lang="en-US" sz="1600">
                <a:solidFill>
                  <a:schemeClr val="dk1"/>
                </a:solidFill>
                <a:latin typeface="Quattrocento Sans"/>
                <a:ea typeface="Quattrocento Sans"/>
                <a:cs typeface="Quattrocento Sans"/>
                <a:sym typeface="Quattrocento Sans"/>
              </a:rPr>
              <a:t>INSIGHT POINT: </a:t>
            </a:r>
            <a:endParaRPr/>
          </a:p>
          <a:p>
            <a:pPr indent="0" lvl="0" marL="0" marR="0" rtl="0" algn="just">
              <a:lnSpc>
                <a:spcPct val="90000"/>
              </a:lnSpc>
              <a:spcBef>
                <a:spcPts val="1000"/>
              </a:spcBef>
              <a:spcAft>
                <a:spcPts val="0"/>
              </a:spcAft>
              <a:buClr>
                <a:schemeClr val="dk1"/>
              </a:buClr>
              <a:buSzPts val="1600"/>
              <a:buFont typeface="Quattrocento Sans"/>
              <a:buNone/>
            </a:pPr>
            <a:r>
              <a:rPr lang="en-US" sz="1600">
                <a:solidFill>
                  <a:schemeClr val="dk1"/>
                </a:solidFill>
                <a:latin typeface="Quattrocento Sans"/>
                <a:ea typeface="Quattrocento Sans"/>
                <a:cs typeface="Quattrocento Sans"/>
                <a:sym typeface="Quattrocento Sans"/>
              </a:rPr>
              <a:t>Perusahaan berhasil meningkatkan pendapatan secara signifikan dari awal hingga akhir tahun 2011. Ini bisa menjadi indikator adanya strategi bisnis yang efektif, seperti peningkatan kampanye pemasaran, perluasan produk, atau pelanggan baru.</a:t>
            </a:r>
            <a:endParaRPr b="1" sz="1600">
              <a:solidFill>
                <a:schemeClr val="dk1"/>
              </a:solidFill>
              <a:latin typeface="Quattrocento Sans"/>
              <a:ea typeface="Quattrocento Sans"/>
              <a:cs typeface="Quattrocento Sans"/>
              <a:sym typeface="Quattrocento Sans"/>
            </a:endParaRPr>
          </a:p>
        </p:txBody>
      </p:sp>
      <p:grpSp>
        <p:nvGrpSpPr>
          <p:cNvPr id="206" name="Google Shape;206;p6"/>
          <p:cNvGrpSpPr/>
          <p:nvPr/>
        </p:nvGrpSpPr>
        <p:grpSpPr>
          <a:xfrm>
            <a:off x="0" y="4954136"/>
            <a:ext cx="12192000" cy="1909138"/>
            <a:chOff x="0" y="4948862"/>
            <a:chExt cx="12192000" cy="1909138"/>
          </a:xfrm>
        </p:grpSpPr>
        <p:sp>
          <p:nvSpPr>
            <p:cNvPr id="207" name="Google Shape;207;p6"/>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08" name="Google Shape;208;p6"/>
            <p:cNvSpPr/>
            <p:nvPr/>
          </p:nvSpPr>
          <p:spPr>
            <a:xfrm>
              <a:off x="0" y="5563852"/>
              <a:ext cx="12192000" cy="1294147"/>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7"/>
          <p:cNvSpPr txBox="1"/>
          <p:nvPr>
            <p:ph type="title"/>
          </p:nvPr>
        </p:nvSpPr>
        <p:spPr>
          <a:xfrm>
            <a:off x="236633" y="600356"/>
            <a:ext cx="5421791" cy="7395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Analisis 2</a:t>
            </a:r>
            <a:endParaRPr/>
          </a:p>
        </p:txBody>
      </p:sp>
      <p:sp>
        <p:nvSpPr>
          <p:cNvPr id="214" name="Google Shape;214;p7"/>
          <p:cNvSpPr txBox="1"/>
          <p:nvPr>
            <p:ph idx="1" type="body"/>
          </p:nvPr>
        </p:nvSpPr>
        <p:spPr>
          <a:xfrm>
            <a:off x="6096000" y="1681934"/>
            <a:ext cx="5871882" cy="24059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Font typeface="Quattrocento Sans"/>
              <a:buNone/>
            </a:pPr>
            <a:r>
              <a:rPr lang="en-US" sz="1600"/>
              <a:t>Grafik batang ini menunjukkan lima produk dengan pendapatan tertinggi. Produk </a:t>
            </a:r>
            <a:r>
              <a:rPr b="1" lang="en-US" sz="1600"/>
              <a:t>"PAPER CRAFT, LITTLE BIRDIE"</a:t>
            </a:r>
            <a:r>
              <a:rPr lang="en-US" sz="1600"/>
              <a:t> adalah kontributor pendapatan terbesar dengan total pendapatan sekitar £168,470, jauh di atas produk lain dalam daftar 5 teratas. Produk kedua dan ketiga, </a:t>
            </a:r>
            <a:r>
              <a:rPr b="1" lang="en-US" sz="1600"/>
              <a:t>"REGENCY CAKESTAND 3 TIER"</a:t>
            </a:r>
            <a:r>
              <a:rPr lang="en-US" sz="1600"/>
              <a:t> dan </a:t>
            </a:r>
            <a:r>
              <a:rPr b="1" lang="en-US" sz="1600"/>
              <a:t>"WHITE HANGING HEART T LIGHT HOLDER"</a:t>
            </a:r>
            <a:r>
              <a:rPr lang="en-US" sz="1600"/>
              <a:t>, juga memberikan kontribusi signifikan, dengan pendapatan masing-masing sekitar £142,593 dan £100,448</a:t>
            </a:r>
            <a:endParaRPr b="1" sz="1600"/>
          </a:p>
        </p:txBody>
      </p:sp>
      <p:sp>
        <p:nvSpPr>
          <p:cNvPr id="215" name="Google Shape;215;p7"/>
          <p:cNvSpPr txBox="1"/>
          <p:nvPr>
            <p:ph idx="12" type="sldNum"/>
          </p:nvPr>
        </p:nvSpPr>
        <p:spPr>
          <a:xfrm>
            <a:off x="11445505" y="6414220"/>
            <a:ext cx="285741" cy="249385"/>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16" name="Google Shape;216;p7"/>
          <p:cNvSpPr txBox="1"/>
          <p:nvPr/>
        </p:nvSpPr>
        <p:spPr>
          <a:xfrm>
            <a:off x="974365" y="4471139"/>
            <a:ext cx="9368118" cy="193665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600"/>
              <a:buFont typeface="Quattrocento Sans"/>
              <a:buNone/>
            </a:pPr>
            <a:r>
              <a:rPr b="1" lang="en-US" sz="1600">
                <a:solidFill>
                  <a:schemeClr val="dk1"/>
                </a:solidFill>
                <a:latin typeface="Quattrocento Sans"/>
                <a:ea typeface="Quattrocento Sans"/>
                <a:cs typeface="Quattrocento Sans"/>
                <a:sym typeface="Quattrocento Sans"/>
              </a:rPr>
              <a:t>INSIGHT POINT: </a:t>
            </a:r>
            <a:endParaRPr/>
          </a:p>
          <a:p>
            <a:pPr indent="0" lvl="0" marL="0" marR="0" rtl="0" algn="just">
              <a:lnSpc>
                <a:spcPct val="90000"/>
              </a:lnSpc>
              <a:spcBef>
                <a:spcPts val="1000"/>
              </a:spcBef>
              <a:spcAft>
                <a:spcPts val="0"/>
              </a:spcAft>
              <a:buClr>
                <a:schemeClr val="dk1"/>
              </a:buClr>
              <a:buSzPts val="1600"/>
              <a:buFont typeface="Quattrocento Sans"/>
              <a:buNone/>
            </a:pPr>
            <a:r>
              <a:rPr lang="en-US" sz="1600">
                <a:solidFill>
                  <a:schemeClr val="dk1"/>
                </a:solidFill>
                <a:latin typeface="Quattrocento Sans"/>
                <a:ea typeface="Quattrocento Sans"/>
                <a:cs typeface="Quattrocento Sans"/>
                <a:sym typeface="Quattrocento Sans"/>
              </a:rPr>
              <a:t>Dengan mengetahui produk mana yang paling laku, perusahaan dapat mengoptimalkan manajemen inventaris. Hal ini akan mencegah kehabisan stok (</a:t>
            </a:r>
            <a:r>
              <a:rPr i="1" lang="en-US" sz="1600">
                <a:solidFill>
                  <a:schemeClr val="dk1"/>
                </a:solidFill>
                <a:latin typeface="Quattrocento Sans"/>
                <a:ea typeface="Quattrocento Sans"/>
                <a:cs typeface="Quattrocento Sans"/>
                <a:sym typeface="Quattrocento Sans"/>
              </a:rPr>
              <a:t>stockout</a:t>
            </a:r>
            <a:r>
              <a:rPr lang="en-US" sz="1600">
                <a:solidFill>
                  <a:schemeClr val="dk1"/>
                </a:solidFill>
                <a:latin typeface="Quattrocento Sans"/>
                <a:ea typeface="Quattrocento Sans"/>
                <a:cs typeface="Quattrocento Sans"/>
                <a:sym typeface="Quattrocento Sans"/>
              </a:rPr>
              <a:t>) yang bisa menyebabkan hilangnya potensi penjualan, sekaligus menghindari penumpukan produk yang kurang laku</a:t>
            </a:r>
            <a:endParaRPr b="1" sz="1600">
              <a:solidFill>
                <a:schemeClr val="dk1"/>
              </a:solidFill>
              <a:latin typeface="Quattrocento Sans"/>
              <a:ea typeface="Quattrocento Sans"/>
              <a:cs typeface="Quattrocento Sans"/>
              <a:sym typeface="Quattrocento Sans"/>
            </a:endParaRPr>
          </a:p>
        </p:txBody>
      </p:sp>
      <p:pic>
        <p:nvPicPr>
          <p:cNvPr id="217" name="Google Shape;217;p7"/>
          <p:cNvPicPr preferRelativeResize="0"/>
          <p:nvPr/>
        </p:nvPicPr>
        <p:blipFill rotWithShape="1">
          <a:blip r:embed="rId3">
            <a:alphaModFix/>
          </a:blip>
          <a:srcRect b="0" l="0" r="0" t="0"/>
          <a:stretch/>
        </p:blipFill>
        <p:spPr>
          <a:xfrm>
            <a:off x="3001310" y="1723177"/>
            <a:ext cx="2866884" cy="2196992"/>
          </a:xfrm>
          <a:prstGeom prst="rect">
            <a:avLst/>
          </a:prstGeom>
          <a:noFill/>
          <a:ln>
            <a:noFill/>
          </a:ln>
        </p:spPr>
      </p:pic>
      <p:pic>
        <p:nvPicPr>
          <p:cNvPr id="218" name="Google Shape;218;p7"/>
          <p:cNvPicPr preferRelativeResize="0"/>
          <p:nvPr/>
        </p:nvPicPr>
        <p:blipFill rotWithShape="1">
          <a:blip r:embed="rId4">
            <a:alphaModFix/>
          </a:blip>
          <a:srcRect b="0" l="0" r="0" t="0"/>
          <a:stretch/>
        </p:blipFill>
        <p:spPr>
          <a:xfrm>
            <a:off x="258984" y="1762686"/>
            <a:ext cx="2628423" cy="2034716"/>
          </a:xfrm>
          <a:prstGeom prst="rect">
            <a:avLst/>
          </a:prstGeom>
          <a:noFill/>
          <a:ln>
            <a:noFill/>
          </a:ln>
        </p:spPr>
      </p:pic>
      <p:grpSp>
        <p:nvGrpSpPr>
          <p:cNvPr id="219" name="Google Shape;219;p7"/>
          <p:cNvGrpSpPr/>
          <p:nvPr/>
        </p:nvGrpSpPr>
        <p:grpSpPr>
          <a:xfrm>
            <a:off x="0" y="4954136"/>
            <a:ext cx="12192000" cy="1909138"/>
            <a:chOff x="0" y="4948862"/>
            <a:chExt cx="12192000" cy="1909138"/>
          </a:xfrm>
        </p:grpSpPr>
        <p:sp>
          <p:nvSpPr>
            <p:cNvPr id="220" name="Google Shape;220;p7"/>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21" name="Google Shape;221;p7"/>
            <p:cNvSpPr/>
            <p:nvPr/>
          </p:nvSpPr>
          <p:spPr>
            <a:xfrm>
              <a:off x="0" y="5563852"/>
              <a:ext cx="12192000" cy="1294147"/>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8"/>
          <p:cNvSpPr txBox="1"/>
          <p:nvPr>
            <p:ph type="title"/>
          </p:nvPr>
        </p:nvSpPr>
        <p:spPr>
          <a:xfrm>
            <a:off x="236633" y="600356"/>
            <a:ext cx="5421791" cy="7395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Analisis 3</a:t>
            </a:r>
            <a:endParaRPr/>
          </a:p>
        </p:txBody>
      </p:sp>
      <p:sp>
        <p:nvSpPr>
          <p:cNvPr id="227" name="Google Shape;227;p8"/>
          <p:cNvSpPr txBox="1"/>
          <p:nvPr>
            <p:ph idx="1" type="body"/>
          </p:nvPr>
        </p:nvSpPr>
        <p:spPr>
          <a:xfrm>
            <a:off x="6096000" y="1681934"/>
            <a:ext cx="5871882" cy="24059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Font typeface="Quattrocento Sans"/>
              <a:buNone/>
            </a:pPr>
            <a:r>
              <a:rPr lang="en-US" sz="1600"/>
              <a:t>Grafik lingkaran ini dengan jelas menunjukkan bahwa </a:t>
            </a:r>
            <a:r>
              <a:rPr b="1" lang="en-US" sz="1600"/>
              <a:t>United Kingdom (UK)</a:t>
            </a:r>
            <a:r>
              <a:rPr lang="en-US" sz="1600"/>
              <a:t> adalah pasar terbesar dengan kontribusi pendapatan mencapai </a:t>
            </a:r>
            <a:r>
              <a:rPr b="1" lang="en-US" sz="1600"/>
              <a:t>82,0%</a:t>
            </a:r>
            <a:r>
              <a:rPr lang="en-US" sz="1600"/>
              <a:t>. Pasar-pasar lain, termasuk Netherlands, EIRE, Germany, dan France, menyumbang sebagian kecil dari total pendapatan, dengan persentase di bawah 5% masing-masing</a:t>
            </a:r>
            <a:endParaRPr b="1" sz="1600"/>
          </a:p>
        </p:txBody>
      </p:sp>
      <p:sp>
        <p:nvSpPr>
          <p:cNvPr id="228" name="Google Shape;228;p8"/>
          <p:cNvSpPr txBox="1"/>
          <p:nvPr>
            <p:ph idx="12" type="sldNum"/>
          </p:nvPr>
        </p:nvSpPr>
        <p:spPr>
          <a:xfrm>
            <a:off x="11445505" y="6414220"/>
            <a:ext cx="285741" cy="249385"/>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29" name="Google Shape;229;p8"/>
          <p:cNvSpPr txBox="1"/>
          <p:nvPr/>
        </p:nvSpPr>
        <p:spPr>
          <a:xfrm>
            <a:off x="974365" y="4471139"/>
            <a:ext cx="9368118" cy="193665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600"/>
              <a:buFont typeface="Quattrocento Sans"/>
              <a:buNone/>
            </a:pPr>
            <a:r>
              <a:rPr b="1" lang="en-US" sz="1600">
                <a:solidFill>
                  <a:schemeClr val="dk1"/>
                </a:solidFill>
                <a:latin typeface="Quattrocento Sans"/>
                <a:ea typeface="Quattrocento Sans"/>
                <a:cs typeface="Quattrocento Sans"/>
                <a:sym typeface="Quattrocento Sans"/>
              </a:rPr>
              <a:t>INSIGHT POINT: </a:t>
            </a:r>
            <a:endParaRPr/>
          </a:p>
          <a:p>
            <a:pPr indent="0" lvl="0" marL="0" marR="0" rtl="0" algn="just">
              <a:lnSpc>
                <a:spcPct val="90000"/>
              </a:lnSpc>
              <a:spcBef>
                <a:spcPts val="1000"/>
              </a:spcBef>
              <a:spcAft>
                <a:spcPts val="0"/>
              </a:spcAft>
              <a:buClr>
                <a:schemeClr val="dk1"/>
              </a:buClr>
              <a:buSzPts val="1600"/>
              <a:buFont typeface="Quattrocento Sans"/>
              <a:buNone/>
            </a:pPr>
            <a:r>
              <a:rPr lang="en-US" sz="1600">
                <a:solidFill>
                  <a:schemeClr val="dk1"/>
                </a:solidFill>
                <a:latin typeface="Quattrocento Sans"/>
                <a:ea typeface="Quattrocento Sans"/>
                <a:cs typeface="Quattrocento Sans"/>
                <a:sym typeface="Quattrocento Sans"/>
              </a:rPr>
              <a:t>Perusahaan sangat bergantung pada pasar domestiknya, yaitu Inggris. Meskipun hal ini menunjukkan kekuatan di pasar inti, ketergantungan yang tinggi pada satu pasar juga memiliki risiko. Jika terjadi perlambatan ekonomi di Inggris, pendapatan perusahaan dapat sangat terpengaruh. Peluang ekspansi internasional terutama </a:t>
            </a:r>
            <a:r>
              <a:rPr b="1" lang="en-US" sz="1600">
                <a:solidFill>
                  <a:schemeClr val="dk1"/>
                </a:solidFill>
                <a:latin typeface="Quattrocento Sans"/>
                <a:ea typeface="Quattrocento Sans"/>
                <a:cs typeface="Quattrocento Sans"/>
                <a:sym typeface="Quattrocento Sans"/>
              </a:rPr>
              <a:t>Netherlands</a:t>
            </a:r>
            <a:r>
              <a:rPr lang="en-US" sz="1600">
                <a:solidFill>
                  <a:schemeClr val="dk1"/>
                </a:solidFill>
                <a:latin typeface="Quattrocento Sans"/>
                <a:ea typeface="Quattrocento Sans"/>
                <a:cs typeface="Quattrocento Sans"/>
                <a:sym typeface="Quattrocento Sans"/>
              </a:rPr>
              <a:t>, </a:t>
            </a:r>
            <a:r>
              <a:rPr b="1" lang="en-US" sz="1600">
                <a:solidFill>
                  <a:schemeClr val="dk1"/>
                </a:solidFill>
                <a:latin typeface="Quattrocento Sans"/>
                <a:ea typeface="Quattrocento Sans"/>
                <a:cs typeface="Quattrocento Sans"/>
                <a:sym typeface="Quattrocento Sans"/>
              </a:rPr>
              <a:t>EIRE</a:t>
            </a:r>
            <a:r>
              <a:rPr lang="en-US" sz="1600">
                <a:solidFill>
                  <a:schemeClr val="dk1"/>
                </a:solidFill>
                <a:latin typeface="Quattrocento Sans"/>
                <a:ea typeface="Quattrocento Sans"/>
                <a:cs typeface="Quattrocento Sans"/>
                <a:sym typeface="Quattrocento Sans"/>
              </a:rPr>
              <a:t>, </a:t>
            </a:r>
            <a:r>
              <a:rPr b="1" lang="en-US" sz="1600">
                <a:solidFill>
                  <a:schemeClr val="dk1"/>
                </a:solidFill>
                <a:latin typeface="Quattrocento Sans"/>
                <a:ea typeface="Quattrocento Sans"/>
                <a:cs typeface="Quattrocento Sans"/>
                <a:sym typeface="Quattrocento Sans"/>
              </a:rPr>
              <a:t>Germany</a:t>
            </a:r>
            <a:r>
              <a:rPr lang="en-US" sz="1600">
                <a:solidFill>
                  <a:schemeClr val="dk1"/>
                </a:solidFill>
                <a:latin typeface="Quattrocento Sans"/>
                <a:ea typeface="Quattrocento Sans"/>
                <a:cs typeface="Quattrocento Sans"/>
                <a:sym typeface="Quattrocento Sans"/>
              </a:rPr>
              <a:t>, dan </a:t>
            </a:r>
            <a:r>
              <a:rPr b="1" lang="en-US" sz="1600">
                <a:solidFill>
                  <a:schemeClr val="dk1"/>
                </a:solidFill>
                <a:latin typeface="Quattrocento Sans"/>
                <a:ea typeface="Quattrocento Sans"/>
                <a:cs typeface="Quattrocento Sans"/>
                <a:sym typeface="Quattrocento Sans"/>
              </a:rPr>
              <a:t>France</a:t>
            </a:r>
            <a:r>
              <a:rPr lang="en-US" sz="1600">
                <a:solidFill>
                  <a:schemeClr val="dk1"/>
                </a:solidFill>
                <a:latin typeface="Quattrocento Sans"/>
                <a:ea typeface="Quattrocento Sans"/>
                <a:cs typeface="Quattrocento Sans"/>
                <a:sym typeface="Quattrocento Sans"/>
              </a:rPr>
              <a:t>, menunjukkan potensi. Meskipun kontribusi mereka saat ini kecil, pertumbuhan di pasar-pasar ini bisa menjadi strategi diversifikasi pendapatan yang baik.</a:t>
            </a:r>
            <a:endParaRPr b="1" sz="1600">
              <a:solidFill>
                <a:schemeClr val="dk1"/>
              </a:solidFill>
              <a:latin typeface="Quattrocento Sans"/>
              <a:ea typeface="Quattrocento Sans"/>
              <a:cs typeface="Quattrocento Sans"/>
              <a:sym typeface="Quattrocento Sans"/>
            </a:endParaRPr>
          </a:p>
        </p:txBody>
      </p:sp>
      <p:grpSp>
        <p:nvGrpSpPr>
          <p:cNvPr id="230" name="Google Shape;230;p8"/>
          <p:cNvGrpSpPr/>
          <p:nvPr/>
        </p:nvGrpSpPr>
        <p:grpSpPr>
          <a:xfrm>
            <a:off x="0" y="5898776"/>
            <a:ext cx="12192000" cy="964497"/>
            <a:chOff x="0" y="4948862"/>
            <a:chExt cx="12192000" cy="1909138"/>
          </a:xfrm>
        </p:grpSpPr>
        <p:sp>
          <p:nvSpPr>
            <p:cNvPr id="231" name="Google Shape;231;p8"/>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32" name="Google Shape;232;p8"/>
            <p:cNvSpPr/>
            <p:nvPr/>
          </p:nvSpPr>
          <p:spPr>
            <a:xfrm>
              <a:off x="0" y="5563852"/>
              <a:ext cx="12192000" cy="1294147"/>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pic>
        <p:nvPicPr>
          <p:cNvPr id="233" name="Google Shape;233;p8"/>
          <p:cNvPicPr preferRelativeResize="0"/>
          <p:nvPr/>
        </p:nvPicPr>
        <p:blipFill rotWithShape="1">
          <a:blip r:embed="rId3">
            <a:alphaModFix/>
          </a:blip>
          <a:srcRect b="0" l="0" r="0" t="0"/>
          <a:stretch/>
        </p:blipFill>
        <p:spPr>
          <a:xfrm>
            <a:off x="299246" y="1621100"/>
            <a:ext cx="2474258" cy="2474258"/>
          </a:xfrm>
          <a:prstGeom prst="rect">
            <a:avLst/>
          </a:prstGeom>
          <a:noFill/>
          <a:ln>
            <a:noFill/>
          </a:ln>
        </p:spPr>
      </p:pic>
      <p:pic>
        <p:nvPicPr>
          <p:cNvPr id="234" name="Google Shape;234;p8"/>
          <p:cNvPicPr preferRelativeResize="0"/>
          <p:nvPr/>
        </p:nvPicPr>
        <p:blipFill rotWithShape="1">
          <a:blip r:embed="rId4">
            <a:alphaModFix/>
          </a:blip>
          <a:srcRect b="0" l="0" r="0" t="0"/>
          <a:stretch/>
        </p:blipFill>
        <p:spPr>
          <a:xfrm>
            <a:off x="2773504" y="1822941"/>
            <a:ext cx="3228776" cy="136263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9"/>
          <p:cNvSpPr txBox="1"/>
          <p:nvPr>
            <p:ph type="title"/>
          </p:nvPr>
        </p:nvSpPr>
        <p:spPr>
          <a:xfrm>
            <a:off x="236633" y="600356"/>
            <a:ext cx="5421791" cy="7395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Analisis 4</a:t>
            </a:r>
            <a:endParaRPr/>
          </a:p>
        </p:txBody>
      </p:sp>
      <p:sp>
        <p:nvSpPr>
          <p:cNvPr id="240" name="Google Shape;240;p9"/>
          <p:cNvSpPr txBox="1"/>
          <p:nvPr>
            <p:ph idx="1" type="body"/>
          </p:nvPr>
        </p:nvSpPr>
        <p:spPr>
          <a:xfrm>
            <a:off x="6096000" y="1681934"/>
            <a:ext cx="5871882" cy="24059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Font typeface="Quattrocento Sans"/>
              <a:buNone/>
            </a:pPr>
            <a:r>
              <a:rPr lang="en-US" sz="1600"/>
              <a:t>Berdasarkan grafik, terdapat </a:t>
            </a:r>
            <a:r>
              <a:rPr b="1" lang="en-US" sz="1600"/>
              <a:t>korelasi negatif</a:t>
            </a:r>
            <a:r>
              <a:rPr lang="en-US" sz="1600"/>
              <a:t> antara kuantitas dan harga per unit. Artinya, produk yang dibeli dalam jumlah besar (</a:t>
            </a:r>
            <a:r>
              <a:rPr i="1" lang="en-US" sz="1600"/>
              <a:t>kuantitas tinggi</a:t>
            </a:r>
            <a:r>
              <a:rPr lang="en-US" sz="1600"/>
              <a:t>) cenderung memiliki harga per unit yang lebih rendah, sementara produk yang dibeli dalam jumlah sedikit (</a:t>
            </a:r>
            <a:r>
              <a:rPr i="1" lang="en-US" sz="1600"/>
              <a:t>kuantitas rendah</a:t>
            </a:r>
            <a:r>
              <a:rPr lang="en-US" sz="1600"/>
              <a:t>) memiliki rentang harga yang lebih luas, termasuk harga yang sangat tingg</a:t>
            </a:r>
            <a:endParaRPr b="1" sz="1600"/>
          </a:p>
        </p:txBody>
      </p:sp>
      <p:sp>
        <p:nvSpPr>
          <p:cNvPr id="241" name="Google Shape;241;p9"/>
          <p:cNvSpPr txBox="1"/>
          <p:nvPr>
            <p:ph idx="12" type="sldNum"/>
          </p:nvPr>
        </p:nvSpPr>
        <p:spPr>
          <a:xfrm>
            <a:off x="11445505" y="6414220"/>
            <a:ext cx="285741" cy="249385"/>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42" name="Google Shape;242;p9"/>
          <p:cNvSpPr txBox="1"/>
          <p:nvPr/>
        </p:nvSpPr>
        <p:spPr>
          <a:xfrm>
            <a:off x="974365" y="4471139"/>
            <a:ext cx="9368118" cy="193665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600"/>
              <a:buFont typeface="Quattrocento Sans"/>
              <a:buNone/>
            </a:pPr>
            <a:r>
              <a:rPr b="1" lang="en-US" sz="1600">
                <a:solidFill>
                  <a:schemeClr val="dk1"/>
                </a:solidFill>
                <a:latin typeface="Quattrocento Sans"/>
                <a:ea typeface="Quattrocento Sans"/>
                <a:cs typeface="Quattrocento Sans"/>
                <a:sym typeface="Quattrocento Sans"/>
              </a:rPr>
              <a:t>INSIGHT POINT: </a:t>
            </a:r>
            <a:endParaRPr/>
          </a:p>
          <a:p>
            <a:pPr indent="0" lvl="0" marL="0" marR="0" rtl="0" algn="just">
              <a:lnSpc>
                <a:spcPct val="90000"/>
              </a:lnSpc>
              <a:spcBef>
                <a:spcPts val="1000"/>
              </a:spcBef>
              <a:spcAft>
                <a:spcPts val="0"/>
              </a:spcAft>
              <a:buClr>
                <a:schemeClr val="dk1"/>
              </a:buClr>
              <a:buSzPts val="1600"/>
              <a:buFont typeface="Quattrocento Sans"/>
              <a:buNone/>
            </a:pPr>
            <a:r>
              <a:rPr lang="en-US" sz="1600">
                <a:solidFill>
                  <a:schemeClr val="dk1"/>
                </a:solidFill>
                <a:latin typeface="Quattrocento Sans"/>
                <a:ea typeface="Quattrocento Sans"/>
                <a:cs typeface="Quattrocento Sans"/>
                <a:sym typeface="Quattrocento Sans"/>
              </a:rPr>
              <a:t>Perusahaan bisa memanfaatkan </a:t>
            </a:r>
            <a:r>
              <a:rPr i="1" lang="en-US" sz="1600">
                <a:solidFill>
                  <a:schemeClr val="dk1"/>
                </a:solidFill>
                <a:latin typeface="Quattrocento Sans"/>
                <a:ea typeface="Quattrocento Sans"/>
                <a:cs typeface="Quattrocento Sans"/>
                <a:sym typeface="Quattrocento Sans"/>
              </a:rPr>
              <a:t>insight</a:t>
            </a:r>
            <a:r>
              <a:rPr lang="en-US" sz="1600">
                <a:solidFill>
                  <a:schemeClr val="dk1"/>
                </a:solidFill>
                <a:latin typeface="Quattrocento Sans"/>
                <a:ea typeface="Quattrocento Sans"/>
                <a:cs typeface="Quattrocento Sans"/>
                <a:sym typeface="Quattrocento Sans"/>
              </a:rPr>
              <a:t> ini untuk strategi </a:t>
            </a:r>
            <a:r>
              <a:rPr b="1" lang="en-US" sz="1600">
                <a:solidFill>
                  <a:schemeClr val="dk1"/>
                </a:solidFill>
                <a:latin typeface="Quattrocento Sans"/>
                <a:ea typeface="Quattrocento Sans"/>
                <a:cs typeface="Quattrocento Sans"/>
                <a:sym typeface="Quattrocento Sans"/>
              </a:rPr>
              <a:t>bundling</a:t>
            </a:r>
            <a:r>
              <a:rPr lang="en-US" sz="1600">
                <a:solidFill>
                  <a:schemeClr val="dk1"/>
                </a:solidFill>
                <a:latin typeface="Quattrocento Sans"/>
                <a:ea typeface="Quattrocento Sans"/>
                <a:cs typeface="Quattrocento Sans"/>
                <a:sym typeface="Quattrocento Sans"/>
              </a:rPr>
              <a:t> atau </a:t>
            </a:r>
            <a:r>
              <a:rPr b="1" lang="en-US" sz="1600">
                <a:solidFill>
                  <a:schemeClr val="dk1"/>
                </a:solidFill>
                <a:latin typeface="Quattrocento Sans"/>
                <a:ea typeface="Quattrocento Sans"/>
                <a:cs typeface="Quattrocento Sans"/>
                <a:sym typeface="Quattrocento Sans"/>
              </a:rPr>
              <a:t>promosi grosir</a:t>
            </a:r>
            <a:r>
              <a:rPr lang="en-US" sz="1600">
                <a:solidFill>
                  <a:schemeClr val="dk1"/>
                </a:solidFill>
                <a:latin typeface="Quattrocento Sans"/>
                <a:ea typeface="Quattrocento Sans"/>
                <a:cs typeface="Quattrocento Sans"/>
                <a:sym typeface="Quattrocento Sans"/>
              </a:rPr>
              <a:t>. Menawarkan diskon khusus untuk pembelian dalam jumlah besar dapat mendorong pelanggan untuk membeli lebih banyak, yang pada akhirnya meningkatkan volume penjualan tota</a:t>
            </a:r>
            <a:endParaRPr b="1" sz="1600">
              <a:solidFill>
                <a:schemeClr val="dk1"/>
              </a:solidFill>
              <a:latin typeface="Quattrocento Sans"/>
              <a:ea typeface="Quattrocento Sans"/>
              <a:cs typeface="Quattrocento Sans"/>
              <a:sym typeface="Quattrocento Sans"/>
            </a:endParaRPr>
          </a:p>
        </p:txBody>
      </p:sp>
      <p:grpSp>
        <p:nvGrpSpPr>
          <p:cNvPr id="243" name="Google Shape;243;p9"/>
          <p:cNvGrpSpPr/>
          <p:nvPr/>
        </p:nvGrpSpPr>
        <p:grpSpPr>
          <a:xfrm>
            <a:off x="0" y="5898776"/>
            <a:ext cx="12192000" cy="964497"/>
            <a:chOff x="0" y="4948862"/>
            <a:chExt cx="12192000" cy="1909138"/>
          </a:xfrm>
        </p:grpSpPr>
        <p:sp>
          <p:nvSpPr>
            <p:cNvPr id="244" name="Google Shape;244;p9"/>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45" name="Google Shape;245;p9"/>
            <p:cNvSpPr/>
            <p:nvPr/>
          </p:nvSpPr>
          <p:spPr>
            <a:xfrm>
              <a:off x="0" y="5563852"/>
              <a:ext cx="12192000" cy="1294147"/>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pic>
        <p:nvPicPr>
          <p:cNvPr id="246" name="Google Shape;246;p9"/>
          <p:cNvPicPr preferRelativeResize="0"/>
          <p:nvPr/>
        </p:nvPicPr>
        <p:blipFill rotWithShape="1">
          <a:blip r:embed="rId3">
            <a:alphaModFix/>
          </a:blip>
          <a:srcRect b="0" l="0" r="0" t="0"/>
          <a:stretch/>
        </p:blipFill>
        <p:spPr>
          <a:xfrm>
            <a:off x="486711" y="1723177"/>
            <a:ext cx="2286793" cy="2209834"/>
          </a:xfrm>
          <a:prstGeom prst="rect">
            <a:avLst/>
          </a:prstGeom>
          <a:noFill/>
          <a:ln>
            <a:noFill/>
          </a:ln>
        </p:spPr>
      </p:pic>
      <p:pic>
        <p:nvPicPr>
          <p:cNvPr id="247" name="Google Shape;247;p9"/>
          <p:cNvPicPr preferRelativeResize="0"/>
          <p:nvPr/>
        </p:nvPicPr>
        <p:blipFill rotWithShape="1">
          <a:blip r:embed="rId4">
            <a:alphaModFix/>
          </a:blip>
          <a:srcRect b="0" l="0" r="0" t="0"/>
          <a:stretch/>
        </p:blipFill>
        <p:spPr>
          <a:xfrm>
            <a:off x="2922495" y="2027380"/>
            <a:ext cx="2735930" cy="160142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0"/>
          <p:cNvSpPr txBox="1"/>
          <p:nvPr>
            <p:ph type="title"/>
          </p:nvPr>
        </p:nvSpPr>
        <p:spPr>
          <a:xfrm>
            <a:off x="236633" y="600356"/>
            <a:ext cx="5421791" cy="7395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Analisis 5</a:t>
            </a:r>
            <a:endParaRPr/>
          </a:p>
        </p:txBody>
      </p:sp>
      <p:sp>
        <p:nvSpPr>
          <p:cNvPr id="253" name="Google Shape;253;p10"/>
          <p:cNvSpPr txBox="1"/>
          <p:nvPr>
            <p:ph idx="1" type="body"/>
          </p:nvPr>
        </p:nvSpPr>
        <p:spPr>
          <a:xfrm>
            <a:off x="3039036" y="3648151"/>
            <a:ext cx="6956612" cy="914884"/>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Font typeface="Quattrocento Sans"/>
              <a:buNone/>
            </a:pPr>
            <a:r>
              <a:rPr lang="en-US" sz="1600"/>
              <a:t>Grafik ini menunjukkan frekuensi (jumlah transaksi) dari kuantitas produk yang dibeli. Pola yang paling menonjol adalah </a:t>
            </a:r>
            <a:r>
              <a:rPr b="1" lang="en-US" sz="1600"/>
              <a:t>mayoritas transaksi adalah pembelian dalam kuantitas kecil</a:t>
            </a:r>
            <a:r>
              <a:rPr lang="en-US" sz="1600"/>
              <a:t>, terutama untuk </a:t>
            </a:r>
            <a:r>
              <a:rPr b="1" lang="en-US" sz="1600"/>
              <a:t>1 hingga 2 unit</a:t>
            </a:r>
            <a:r>
              <a:rPr lang="en-US" sz="1600"/>
              <a:t> per transaksi. Frekuensi pembelian menurun drastis seiring dengan meningkatnya kuantitas, dengan pengecualian pada pembelian </a:t>
            </a:r>
            <a:r>
              <a:rPr b="1" lang="en-US" sz="1600"/>
              <a:t>4</a:t>
            </a:r>
            <a:r>
              <a:rPr lang="en-US" sz="1600"/>
              <a:t> dan </a:t>
            </a:r>
            <a:r>
              <a:rPr b="1" lang="en-US" sz="1600"/>
              <a:t>6 unit</a:t>
            </a:r>
            <a:r>
              <a:rPr lang="en-US" sz="1600"/>
              <a:t> yang memiliki frekuensi yang cukup tingg</a:t>
            </a:r>
            <a:endParaRPr b="1" sz="1600"/>
          </a:p>
        </p:txBody>
      </p:sp>
      <p:sp>
        <p:nvSpPr>
          <p:cNvPr id="254" name="Google Shape;254;p10"/>
          <p:cNvSpPr txBox="1"/>
          <p:nvPr>
            <p:ph idx="12" type="sldNum"/>
          </p:nvPr>
        </p:nvSpPr>
        <p:spPr>
          <a:xfrm>
            <a:off x="11445505" y="6414220"/>
            <a:ext cx="285741" cy="249385"/>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55" name="Google Shape;255;p10"/>
          <p:cNvSpPr txBox="1"/>
          <p:nvPr/>
        </p:nvSpPr>
        <p:spPr>
          <a:xfrm>
            <a:off x="1038694" y="4921343"/>
            <a:ext cx="9368118" cy="193665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600"/>
              <a:buFont typeface="Quattrocento Sans"/>
              <a:buNone/>
            </a:pPr>
            <a:r>
              <a:rPr b="1" lang="en-US" sz="1600">
                <a:solidFill>
                  <a:schemeClr val="dk1"/>
                </a:solidFill>
                <a:latin typeface="Quattrocento Sans"/>
                <a:ea typeface="Quattrocento Sans"/>
                <a:cs typeface="Quattrocento Sans"/>
                <a:sym typeface="Quattrocento Sans"/>
              </a:rPr>
              <a:t>INSIGHT POINT: </a:t>
            </a:r>
            <a:endParaRPr/>
          </a:p>
          <a:p>
            <a:pPr indent="0" lvl="0" marL="0" marR="0" rtl="0" algn="l">
              <a:lnSpc>
                <a:spcPct val="90000"/>
              </a:lnSpc>
              <a:spcBef>
                <a:spcPts val="1000"/>
              </a:spcBef>
              <a:spcAft>
                <a:spcPts val="0"/>
              </a:spcAft>
              <a:buClr>
                <a:schemeClr val="dk1"/>
              </a:buClr>
              <a:buSzPts val="1600"/>
              <a:buFont typeface="Quattrocento Sans"/>
              <a:buNone/>
            </a:pPr>
            <a:r>
              <a:rPr lang="en-US" sz="1600">
                <a:solidFill>
                  <a:schemeClr val="dk1"/>
                </a:solidFill>
                <a:latin typeface="Quattrocento Sans"/>
                <a:ea typeface="Quattrocento Sans"/>
                <a:cs typeface="Quattrocento Sans"/>
                <a:sym typeface="Quattrocento Sans"/>
              </a:rPr>
              <a:t>Pola ini menunjukkan bahwa pelanggan lebih sering membeli produk secara eceran atau dalam jumlah sangat terbatas. Ini juga menyiratkan bahwa strategi penjualan harus difokuskan pada produk yang dijual per unit atau dalam paket kecil. Misalnya, menawarkan diskon khusus untuk pembelian 4 unit atau 6 unit.</a:t>
            </a:r>
            <a:endParaRPr b="1" sz="1600">
              <a:solidFill>
                <a:schemeClr val="dk1"/>
              </a:solidFill>
              <a:latin typeface="Quattrocento Sans"/>
              <a:ea typeface="Quattrocento Sans"/>
              <a:cs typeface="Quattrocento Sans"/>
              <a:sym typeface="Quattrocento Sans"/>
            </a:endParaRPr>
          </a:p>
        </p:txBody>
      </p:sp>
      <p:grpSp>
        <p:nvGrpSpPr>
          <p:cNvPr id="256" name="Google Shape;256;p10"/>
          <p:cNvGrpSpPr/>
          <p:nvPr/>
        </p:nvGrpSpPr>
        <p:grpSpPr>
          <a:xfrm>
            <a:off x="0" y="5898776"/>
            <a:ext cx="12192000" cy="964497"/>
            <a:chOff x="0" y="4948862"/>
            <a:chExt cx="12192000" cy="1909138"/>
          </a:xfrm>
        </p:grpSpPr>
        <p:sp>
          <p:nvSpPr>
            <p:cNvPr id="257" name="Google Shape;257;p10"/>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58" name="Google Shape;258;p10"/>
            <p:cNvSpPr/>
            <p:nvPr/>
          </p:nvSpPr>
          <p:spPr>
            <a:xfrm>
              <a:off x="0" y="5563852"/>
              <a:ext cx="12192000" cy="1294147"/>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pic>
        <p:nvPicPr>
          <p:cNvPr id="259" name="Google Shape;259;p10"/>
          <p:cNvPicPr preferRelativeResize="0"/>
          <p:nvPr/>
        </p:nvPicPr>
        <p:blipFill rotWithShape="1">
          <a:blip r:embed="rId3">
            <a:alphaModFix/>
          </a:blip>
          <a:srcRect b="0" l="0" r="0" t="0"/>
          <a:stretch/>
        </p:blipFill>
        <p:spPr>
          <a:xfrm>
            <a:off x="2091699" y="1374919"/>
            <a:ext cx="3016922" cy="2054081"/>
          </a:xfrm>
          <a:prstGeom prst="rect">
            <a:avLst/>
          </a:prstGeom>
          <a:noFill/>
          <a:ln>
            <a:noFill/>
          </a:ln>
        </p:spPr>
      </p:pic>
      <p:pic>
        <p:nvPicPr>
          <p:cNvPr id="260" name="Google Shape;260;p10"/>
          <p:cNvPicPr preferRelativeResize="0"/>
          <p:nvPr/>
        </p:nvPicPr>
        <p:blipFill rotWithShape="1">
          <a:blip r:embed="rId4">
            <a:alphaModFix/>
          </a:blip>
          <a:srcRect b="0" l="0" r="0" t="0"/>
          <a:stretch/>
        </p:blipFill>
        <p:spPr>
          <a:xfrm>
            <a:off x="5342965" y="1559095"/>
            <a:ext cx="5529647" cy="17984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1"/>
          <p:cNvSpPr txBox="1"/>
          <p:nvPr>
            <p:ph type="title"/>
          </p:nvPr>
        </p:nvSpPr>
        <p:spPr>
          <a:xfrm>
            <a:off x="236633" y="600356"/>
            <a:ext cx="5421791" cy="7395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3D65"/>
              </a:buClr>
              <a:buSzPts val="4400"/>
              <a:buFont typeface="Quattrocento Sans"/>
              <a:buNone/>
            </a:pPr>
            <a:r>
              <a:rPr lang="en-US">
                <a:solidFill>
                  <a:srgbClr val="083D65"/>
                </a:solidFill>
                <a:latin typeface="Quattrocento Sans"/>
                <a:ea typeface="Quattrocento Sans"/>
                <a:cs typeface="Quattrocento Sans"/>
                <a:sym typeface="Quattrocento Sans"/>
              </a:rPr>
              <a:t>Analisis 6</a:t>
            </a:r>
            <a:endParaRPr/>
          </a:p>
        </p:txBody>
      </p:sp>
      <p:sp>
        <p:nvSpPr>
          <p:cNvPr id="266" name="Google Shape;266;p11"/>
          <p:cNvSpPr txBox="1"/>
          <p:nvPr>
            <p:ph idx="1" type="body"/>
          </p:nvPr>
        </p:nvSpPr>
        <p:spPr>
          <a:xfrm>
            <a:off x="5809129" y="2203414"/>
            <a:ext cx="6382871" cy="185445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Font typeface="Quattrocento Sans"/>
              <a:buNone/>
            </a:pPr>
            <a:r>
              <a:rPr lang="en-US" sz="1600"/>
              <a:t>Grafik ini membagi pelanggan ke dalam beberapa segmen berdasarkan model RFM (Recency, Frequency, Monetary). Segmen terbesar setelah </a:t>
            </a:r>
            <a:r>
              <a:rPr b="1" lang="en-US" sz="1600"/>
              <a:t>“Other” </a:t>
            </a:r>
            <a:r>
              <a:rPr lang="en-US" sz="1600"/>
              <a:t>berikutnya adalah </a:t>
            </a:r>
            <a:r>
              <a:rPr b="1" lang="en-US" sz="1600"/>
              <a:t>"Lost Customers"</a:t>
            </a:r>
            <a:r>
              <a:rPr lang="en-US" sz="1600"/>
              <a:t> (666) dan </a:t>
            </a:r>
            <a:r>
              <a:rPr b="1" lang="en-US" sz="1600"/>
              <a:t>"Champions"</a:t>
            </a:r>
            <a:r>
              <a:rPr lang="en-US" sz="1600"/>
              <a:t> (655), yang menunjukkan adanya pelanggan setia dan pelanggan yang berisiko hilang dalam jumlah yang signifikan.</a:t>
            </a:r>
            <a:endParaRPr b="1" sz="1600"/>
          </a:p>
        </p:txBody>
      </p:sp>
      <p:sp>
        <p:nvSpPr>
          <p:cNvPr id="267" name="Google Shape;267;p11"/>
          <p:cNvSpPr txBox="1"/>
          <p:nvPr>
            <p:ph idx="12" type="sldNum"/>
          </p:nvPr>
        </p:nvSpPr>
        <p:spPr>
          <a:xfrm>
            <a:off x="11445505" y="6414220"/>
            <a:ext cx="285741" cy="249385"/>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US"/>
              <a:t>‹#›</a:t>
            </a:fld>
            <a:endParaRPr/>
          </a:p>
        </p:txBody>
      </p:sp>
      <p:sp>
        <p:nvSpPr>
          <p:cNvPr id="268" name="Google Shape;268;p11"/>
          <p:cNvSpPr txBox="1"/>
          <p:nvPr/>
        </p:nvSpPr>
        <p:spPr>
          <a:xfrm>
            <a:off x="1235917" y="4477563"/>
            <a:ext cx="9368118" cy="193665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600"/>
              <a:buFont typeface="Quattrocento Sans"/>
              <a:buNone/>
            </a:pPr>
            <a:r>
              <a:rPr b="1" lang="en-US" sz="1600">
                <a:solidFill>
                  <a:schemeClr val="dk1"/>
                </a:solidFill>
                <a:latin typeface="Quattrocento Sans"/>
                <a:ea typeface="Quattrocento Sans"/>
                <a:cs typeface="Quattrocento Sans"/>
                <a:sym typeface="Quattrocento Sans"/>
              </a:rPr>
              <a:t>INSIGHT POINT: </a:t>
            </a:r>
            <a:endParaRPr/>
          </a:p>
          <a:p>
            <a:pPr indent="0" lvl="0" marL="0" marR="0" rtl="0" algn="l">
              <a:lnSpc>
                <a:spcPct val="90000"/>
              </a:lnSpc>
              <a:spcBef>
                <a:spcPts val="1000"/>
              </a:spcBef>
              <a:spcAft>
                <a:spcPts val="0"/>
              </a:spcAft>
              <a:buClr>
                <a:schemeClr val="dk1"/>
              </a:buClr>
              <a:buSzPts val="1600"/>
              <a:buFont typeface="Quattrocento Sans"/>
              <a:buNone/>
            </a:pPr>
            <a:r>
              <a:rPr b="1" lang="en-US" sz="1600">
                <a:solidFill>
                  <a:schemeClr val="dk1"/>
                </a:solidFill>
                <a:latin typeface="Quattrocento Sans"/>
                <a:ea typeface="Quattrocento Sans"/>
                <a:cs typeface="Quattrocento Sans"/>
                <a:sym typeface="Quattrocento Sans"/>
              </a:rPr>
              <a:t>Fokus pada Segmen "Champions":</a:t>
            </a:r>
            <a:r>
              <a:rPr lang="en-US" sz="1600">
                <a:solidFill>
                  <a:schemeClr val="dk1"/>
                </a:solidFill>
                <a:latin typeface="Quattrocento Sans"/>
                <a:ea typeface="Quattrocento Sans"/>
                <a:cs typeface="Quattrocento Sans"/>
                <a:sym typeface="Quattrocento Sans"/>
              </a:rPr>
              <a:t> Segmen </a:t>
            </a:r>
            <a:r>
              <a:rPr b="1" lang="en-US" sz="1600">
                <a:solidFill>
                  <a:schemeClr val="dk1"/>
                </a:solidFill>
                <a:latin typeface="Quattrocento Sans"/>
                <a:ea typeface="Quattrocento Sans"/>
                <a:cs typeface="Quattrocento Sans"/>
                <a:sym typeface="Quattrocento Sans"/>
              </a:rPr>
              <a:t>"Champions"</a:t>
            </a:r>
            <a:r>
              <a:rPr lang="en-US" sz="1600">
                <a:solidFill>
                  <a:schemeClr val="dk1"/>
                </a:solidFill>
                <a:latin typeface="Quattrocento Sans"/>
                <a:ea typeface="Quattrocento Sans"/>
                <a:cs typeface="Quattrocento Sans"/>
                <a:sym typeface="Quattrocento Sans"/>
              </a:rPr>
              <a:t> adalah pelanggan yang paling berharga. Mereka memiliki skor RFM tertinggi, artinya mereka adalah pelanggan yang paling sering, paling baru, dan paling banyak berbelanja. Perusahaan harus memprioritaskan mereka dengan program loyalitas, hadiah eksklusif, dan penawaran personal untuk mempertahankan hubungan yang kuat. Mempertahankan pelanggan ini jauh lebih murah daripada mendapatkan pelanggan baru.</a:t>
            </a:r>
            <a:endParaRPr b="1" sz="1600">
              <a:solidFill>
                <a:schemeClr val="dk1"/>
              </a:solidFill>
              <a:latin typeface="Quattrocento Sans"/>
              <a:ea typeface="Quattrocento Sans"/>
              <a:cs typeface="Quattrocento Sans"/>
              <a:sym typeface="Quattrocento Sans"/>
            </a:endParaRPr>
          </a:p>
        </p:txBody>
      </p:sp>
      <p:grpSp>
        <p:nvGrpSpPr>
          <p:cNvPr id="269" name="Google Shape;269;p11"/>
          <p:cNvGrpSpPr/>
          <p:nvPr/>
        </p:nvGrpSpPr>
        <p:grpSpPr>
          <a:xfrm>
            <a:off x="0" y="5898776"/>
            <a:ext cx="12192000" cy="964497"/>
            <a:chOff x="0" y="4948862"/>
            <a:chExt cx="12192000" cy="1909138"/>
          </a:xfrm>
        </p:grpSpPr>
        <p:sp>
          <p:nvSpPr>
            <p:cNvPr id="270" name="Google Shape;270;p11"/>
            <p:cNvSpPr/>
            <p:nvPr/>
          </p:nvSpPr>
          <p:spPr>
            <a:xfrm>
              <a:off x="0" y="4948862"/>
              <a:ext cx="12192000" cy="1909138"/>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E8F1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71" name="Google Shape;271;p11"/>
            <p:cNvSpPr/>
            <p:nvPr/>
          </p:nvSpPr>
          <p:spPr>
            <a:xfrm>
              <a:off x="0" y="5563852"/>
              <a:ext cx="12192000" cy="1294147"/>
            </a:xfrm>
            <a:custGeom>
              <a:rect b="b" l="l" r="r" t="t"/>
              <a:pathLst>
                <a:path extrusionOk="0" h="1909138" w="12192000">
                  <a:moveTo>
                    <a:pt x="0" y="0"/>
                  </a:moveTo>
                  <a:lnTo>
                    <a:pt x="227719" y="142350"/>
                  </a:lnTo>
                  <a:cubicBezTo>
                    <a:pt x="1777640" y="1065981"/>
                    <a:pt x="3836554" y="1628919"/>
                    <a:pt x="6096001" y="1628919"/>
                  </a:cubicBezTo>
                  <a:cubicBezTo>
                    <a:pt x="8355448" y="1628919"/>
                    <a:pt x="10414362" y="1065981"/>
                    <a:pt x="11964283" y="142350"/>
                  </a:cubicBezTo>
                  <a:lnTo>
                    <a:pt x="12192000" y="1"/>
                  </a:lnTo>
                  <a:lnTo>
                    <a:pt x="12192000" y="1909138"/>
                  </a:lnTo>
                  <a:lnTo>
                    <a:pt x="0" y="1909138"/>
                  </a:lnTo>
                  <a:lnTo>
                    <a:pt x="0" y="0"/>
                  </a:lnTo>
                  <a:close/>
                </a:path>
              </a:pathLst>
            </a:custGeom>
            <a:solidFill>
              <a:srgbClr val="7AC2F9">
                <a:alpha val="1098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grpSp>
      <p:pic>
        <p:nvPicPr>
          <p:cNvPr id="272" name="Google Shape;272;p11"/>
          <p:cNvPicPr preferRelativeResize="0"/>
          <p:nvPr/>
        </p:nvPicPr>
        <p:blipFill rotWithShape="1">
          <a:blip r:embed="rId3">
            <a:alphaModFix/>
          </a:blip>
          <a:srcRect b="0" l="0" r="0" t="0"/>
          <a:stretch/>
        </p:blipFill>
        <p:spPr>
          <a:xfrm>
            <a:off x="708288" y="1737393"/>
            <a:ext cx="4141380" cy="204752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8a442beea6_0_0"/>
          <p:cNvSpPr txBox="1"/>
          <p:nvPr>
            <p:ph type="title"/>
          </p:nvPr>
        </p:nvSpPr>
        <p:spPr>
          <a:xfrm>
            <a:off x="394447" y="365126"/>
            <a:ext cx="11403000" cy="791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FILE</a:t>
            </a:r>
            <a:endParaRPr/>
          </a:p>
        </p:txBody>
      </p:sp>
      <p:sp>
        <p:nvSpPr>
          <p:cNvPr id="279" name="Google Shape;279;g38a442beea6_0_0"/>
          <p:cNvSpPr txBox="1"/>
          <p:nvPr>
            <p:ph idx="1" type="body"/>
          </p:nvPr>
        </p:nvSpPr>
        <p:spPr>
          <a:xfrm>
            <a:off x="394450" y="1304376"/>
            <a:ext cx="11403000" cy="5422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900"/>
              <a:t>Dashboard Power BI</a:t>
            </a:r>
            <a:r>
              <a:rPr lang="en-US" sz="1900"/>
              <a:t> </a:t>
            </a:r>
            <a:endParaRPr sz="1900"/>
          </a:p>
          <a:p>
            <a:pPr indent="0" lvl="0" marL="0" rtl="0" algn="l">
              <a:spcBef>
                <a:spcPts val="1000"/>
              </a:spcBef>
              <a:spcAft>
                <a:spcPts val="0"/>
              </a:spcAft>
              <a:buNone/>
            </a:pPr>
            <a:r>
              <a:rPr lang="en-US" sz="1900"/>
              <a:t>https://drive.google.com/file/d/12ld5A2-327EjyBmru-AjD4fc1QBOTBcC/view?usp=sharing</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rPr lang="en-US" sz="1900"/>
              <a:t>Dataset</a:t>
            </a:r>
            <a:endParaRPr sz="1900"/>
          </a:p>
          <a:p>
            <a:pPr indent="0" lvl="0" marL="0" rtl="0" algn="l">
              <a:spcBef>
                <a:spcPts val="1000"/>
              </a:spcBef>
              <a:spcAft>
                <a:spcPts val="0"/>
              </a:spcAft>
              <a:buNone/>
            </a:pPr>
            <a:r>
              <a:rPr lang="en-US" sz="1900" u="sng">
                <a:solidFill>
                  <a:schemeClr val="hlink"/>
                </a:solidFill>
                <a:hlinkClick r:id="rId3"/>
              </a:rPr>
              <a:t>https://drive.google.com/file/d/19CxHzfxRWDe5xXXGuL1YdSkl3ycP6NsR/view?usp=sharing</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rPr lang="en-US" sz="1900"/>
              <a:t>Analisa di python (Jupyter Notebook)</a:t>
            </a:r>
            <a:br>
              <a:rPr lang="en-US" sz="1900"/>
            </a:br>
            <a:r>
              <a:rPr lang="en-US" sz="1900"/>
              <a:t>https://drive.google.com/file/d/1yeyTQypSeInVpGE6FR7sCSMuKdqPEvsX/view?usp=sharing</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rPr lang="en-US" sz="1900"/>
              <a:t>Database Mysql</a:t>
            </a:r>
            <a:endParaRPr sz="1900"/>
          </a:p>
          <a:p>
            <a:pPr indent="0" lvl="0" marL="0" rtl="0" algn="l">
              <a:spcBef>
                <a:spcPts val="1000"/>
              </a:spcBef>
              <a:spcAft>
                <a:spcPts val="0"/>
              </a:spcAft>
              <a:buNone/>
            </a:pPr>
            <a:r>
              <a:rPr lang="en-US" sz="1900" u="sng">
                <a:solidFill>
                  <a:schemeClr val="hlink"/>
                </a:solidFill>
                <a:hlinkClick r:id="rId4"/>
              </a:rPr>
              <a:t>https://drive.google.com/file/d/1iDZzBvXOkjohCVCzZUJNwoWZc0Imn99W/view?usp=sharing</a:t>
            </a:r>
            <a:endParaRPr sz="1900"/>
          </a:p>
          <a:p>
            <a:pPr indent="0" lvl="0" marL="0" rtl="0" algn="l">
              <a:spcBef>
                <a:spcPts val="1000"/>
              </a:spcBef>
              <a:spcAft>
                <a:spcPts val="0"/>
              </a:spcAft>
              <a:buNone/>
            </a:pPr>
            <a:r>
              <a:t/>
            </a:r>
            <a:endParaRPr sz="1900"/>
          </a:p>
          <a:p>
            <a:pPr indent="0" lvl="0" marL="0" rtl="0" algn="l">
              <a:spcBef>
                <a:spcPts val="1000"/>
              </a:spcBef>
              <a:spcAft>
                <a:spcPts val="0"/>
              </a:spcAft>
              <a:buNone/>
            </a:pPr>
            <a:r>
              <a:rPr lang="en-US" sz="1900"/>
              <a:t>Query SQL</a:t>
            </a:r>
            <a:endParaRPr sz="1900"/>
          </a:p>
          <a:p>
            <a:pPr indent="0" lvl="0" marL="0" rtl="0" algn="l">
              <a:spcBef>
                <a:spcPts val="1000"/>
              </a:spcBef>
              <a:spcAft>
                <a:spcPts val="0"/>
              </a:spcAft>
              <a:buNone/>
            </a:pPr>
            <a:r>
              <a:rPr lang="en-US" sz="1900"/>
              <a:t>https://drive.google.com/file/d/1OU2f4Wi2vyBQvCZvqMXQhho5HsSApwOr/view?usp=sharing</a:t>
            </a:r>
            <a:endParaRPr sz="1900"/>
          </a:p>
        </p:txBody>
      </p:sp>
      <p:sp>
        <p:nvSpPr>
          <p:cNvPr id="280" name="Google Shape;280;g38a442beea6_0_0"/>
          <p:cNvSpPr txBox="1"/>
          <p:nvPr>
            <p:ph idx="12" type="sldNum"/>
          </p:nvPr>
        </p:nvSpPr>
        <p:spPr>
          <a:xfrm>
            <a:off x="11445505" y="6414220"/>
            <a:ext cx="285600" cy="249300"/>
          </a:xfrm>
          <a:prstGeom prst="rect">
            <a:avLst/>
          </a:prstGeom>
        </p:spPr>
        <p:txBody>
          <a:bodyPr anchorCtr="0" anchor="ctr" bIns="0" lIns="0" spcFirstLastPara="1" rIns="0" wrap="square" tIns="0">
            <a:noAutofit/>
          </a:bodyPr>
          <a:lstStyle/>
          <a:p>
            <a:pPr indent="0" lvl="0" marL="0" rtl="0" algn="ct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2"/>
          <p:cNvSpPr/>
          <p:nvPr/>
        </p:nvSpPr>
        <p:spPr>
          <a:xfrm>
            <a:off x="1" y="0"/>
            <a:ext cx="6096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86" name="Google Shape;286;p12"/>
          <p:cNvCxnSpPr/>
          <p:nvPr/>
        </p:nvCxnSpPr>
        <p:spPr>
          <a:xfrm>
            <a:off x="6488730" y="5527287"/>
            <a:ext cx="5202527" cy="0"/>
          </a:xfrm>
          <a:prstGeom prst="straightConnector1">
            <a:avLst/>
          </a:prstGeom>
          <a:noFill/>
          <a:ln cap="flat" cmpd="sng" w="9525">
            <a:solidFill>
              <a:srgbClr val="D8D8D8"/>
            </a:solidFill>
            <a:prstDash val="solid"/>
            <a:miter lim="800000"/>
            <a:headEnd len="sm" w="sm" type="none"/>
            <a:tailEnd len="sm" w="sm" type="none"/>
          </a:ln>
        </p:spPr>
      </p:cxnSp>
      <p:sp>
        <p:nvSpPr>
          <p:cNvPr id="287" name="Google Shape;287;p12"/>
          <p:cNvSpPr txBox="1"/>
          <p:nvPr>
            <p:ph type="ctrTitle"/>
          </p:nvPr>
        </p:nvSpPr>
        <p:spPr>
          <a:xfrm>
            <a:off x="6488730" y="1499796"/>
            <a:ext cx="5202529" cy="367981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Georgia"/>
              <a:buNone/>
            </a:pPr>
            <a:r>
              <a:rPr lang="en-US" sz="7200"/>
              <a:t>THANK YOU</a:t>
            </a:r>
            <a:br>
              <a:rPr lang="en-US" sz="7200"/>
            </a:br>
            <a:br>
              <a:rPr lang="en-US" sz="7200"/>
            </a:br>
            <a:endParaRPr sz="7200"/>
          </a:p>
        </p:txBody>
      </p:sp>
      <p:grpSp>
        <p:nvGrpSpPr>
          <p:cNvPr id="288" name="Google Shape;288;p12"/>
          <p:cNvGrpSpPr/>
          <p:nvPr/>
        </p:nvGrpSpPr>
        <p:grpSpPr>
          <a:xfrm>
            <a:off x="606307" y="581556"/>
            <a:ext cx="1198681" cy="342895"/>
            <a:chOff x="6673278" y="1829785"/>
            <a:chExt cx="1404809" cy="401860"/>
          </a:xfrm>
        </p:grpSpPr>
        <p:sp>
          <p:nvSpPr>
            <p:cNvPr id="289" name="Google Shape;289;p12"/>
            <p:cNvSpPr/>
            <p:nvPr/>
          </p:nvSpPr>
          <p:spPr>
            <a:xfrm>
              <a:off x="6673278" y="1833191"/>
              <a:ext cx="195821" cy="309909"/>
            </a:xfrm>
            <a:custGeom>
              <a:rect b="b" l="l" r="r" t="t"/>
              <a:pathLst>
                <a:path extrusionOk="0" h="95" w="61">
                  <a:moveTo>
                    <a:pt x="43" y="47"/>
                  </a:moveTo>
                  <a:cubicBezTo>
                    <a:pt x="30" y="55"/>
                    <a:pt x="30" y="55"/>
                    <a:pt x="30" y="55"/>
                  </a:cubicBezTo>
                  <a:cubicBezTo>
                    <a:pt x="15" y="65"/>
                    <a:pt x="11" y="72"/>
                    <a:pt x="11" y="83"/>
                  </a:cubicBezTo>
                  <a:cubicBezTo>
                    <a:pt x="11" y="85"/>
                    <a:pt x="11" y="85"/>
                    <a:pt x="11" y="85"/>
                  </a:cubicBezTo>
                  <a:cubicBezTo>
                    <a:pt x="57" y="85"/>
                    <a:pt x="57" y="85"/>
                    <a:pt x="57" y="85"/>
                  </a:cubicBezTo>
                  <a:cubicBezTo>
                    <a:pt x="59" y="85"/>
                    <a:pt x="60" y="86"/>
                    <a:pt x="60" y="88"/>
                  </a:cubicBezTo>
                  <a:cubicBezTo>
                    <a:pt x="60" y="93"/>
                    <a:pt x="60" y="93"/>
                    <a:pt x="60" y="93"/>
                  </a:cubicBezTo>
                  <a:cubicBezTo>
                    <a:pt x="60" y="95"/>
                    <a:pt x="59" y="95"/>
                    <a:pt x="57" y="95"/>
                  </a:cubicBezTo>
                  <a:cubicBezTo>
                    <a:pt x="3" y="95"/>
                    <a:pt x="3" y="95"/>
                    <a:pt x="3" y="95"/>
                  </a:cubicBezTo>
                  <a:cubicBezTo>
                    <a:pt x="1" y="95"/>
                    <a:pt x="0" y="94"/>
                    <a:pt x="0" y="93"/>
                  </a:cubicBezTo>
                  <a:cubicBezTo>
                    <a:pt x="0" y="83"/>
                    <a:pt x="0" y="83"/>
                    <a:pt x="0" y="83"/>
                  </a:cubicBezTo>
                  <a:cubicBezTo>
                    <a:pt x="0" y="69"/>
                    <a:pt x="6" y="58"/>
                    <a:pt x="21" y="49"/>
                  </a:cubicBezTo>
                  <a:cubicBezTo>
                    <a:pt x="35" y="40"/>
                    <a:pt x="35" y="40"/>
                    <a:pt x="35" y="40"/>
                  </a:cubicBezTo>
                  <a:cubicBezTo>
                    <a:pt x="46" y="33"/>
                    <a:pt x="49" y="30"/>
                    <a:pt x="49" y="22"/>
                  </a:cubicBezTo>
                  <a:cubicBezTo>
                    <a:pt x="49" y="13"/>
                    <a:pt x="43" y="9"/>
                    <a:pt x="28" y="9"/>
                  </a:cubicBezTo>
                  <a:cubicBezTo>
                    <a:pt x="21" y="9"/>
                    <a:pt x="12" y="10"/>
                    <a:pt x="4" y="11"/>
                  </a:cubicBezTo>
                  <a:cubicBezTo>
                    <a:pt x="4" y="11"/>
                    <a:pt x="4" y="11"/>
                    <a:pt x="3" y="11"/>
                  </a:cubicBezTo>
                  <a:cubicBezTo>
                    <a:pt x="2" y="11"/>
                    <a:pt x="1" y="10"/>
                    <a:pt x="1" y="9"/>
                  </a:cubicBezTo>
                  <a:cubicBezTo>
                    <a:pt x="1" y="4"/>
                    <a:pt x="1" y="4"/>
                    <a:pt x="1" y="4"/>
                  </a:cubicBezTo>
                  <a:cubicBezTo>
                    <a:pt x="1" y="3"/>
                    <a:pt x="3" y="2"/>
                    <a:pt x="4" y="2"/>
                  </a:cubicBezTo>
                  <a:cubicBezTo>
                    <a:pt x="11" y="0"/>
                    <a:pt x="20" y="0"/>
                    <a:pt x="28" y="0"/>
                  </a:cubicBezTo>
                  <a:cubicBezTo>
                    <a:pt x="51" y="0"/>
                    <a:pt x="61" y="7"/>
                    <a:pt x="61" y="22"/>
                  </a:cubicBezTo>
                  <a:cubicBezTo>
                    <a:pt x="61" y="33"/>
                    <a:pt x="56" y="39"/>
                    <a:pt x="43" y="4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290" name="Google Shape;290;p12"/>
            <p:cNvSpPr/>
            <p:nvPr/>
          </p:nvSpPr>
          <p:spPr>
            <a:xfrm>
              <a:off x="6785663" y="1904708"/>
              <a:ext cx="226472" cy="326937"/>
            </a:xfrm>
            <a:custGeom>
              <a:rect b="b" l="l" r="r" t="t"/>
              <a:pathLst>
                <a:path extrusionOk="0" h="100" w="70">
                  <a:moveTo>
                    <a:pt x="68" y="74"/>
                  </a:moveTo>
                  <a:cubicBezTo>
                    <a:pt x="56" y="74"/>
                    <a:pt x="56" y="74"/>
                    <a:pt x="56" y="74"/>
                  </a:cubicBezTo>
                  <a:cubicBezTo>
                    <a:pt x="56" y="98"/>
                    <a:pt x="56" y="98"/>
                    <a:pt x="56" y="98"/>
                  </a:cubicBezTo>
                  <a:cubicBezTo>
                    <a:pt x="56" y="99"/>
                    <a:pt x="55" y="100"/>
                    <a:pt x="54" y="100"/>
                  </a:cubicBezTo>
                  <a:cubicBezTo>
                    <a:pt x="46" y="100"/>
                    <a:pt x="46" y="100"/>
                    <a:pt x="46" y="100"/>
                  </a:cubicBezTo>
                  <a:cubicBezTo>
                    <a:pt x="44" y="100"/>
                    <a:pt x="44" y="99"/>
                    <a:pt x="44" y="98"/>
                  </a:cubicBezTo>
                  <a:cubicBezTo>
                    <a:pt x="44" y="74"/>
                    <a:pt x="44" y="74"/>
                    <a:pt x="44" y="74"/>
                  </a:cubicBezTo>
                  <a:cubicBezTo>
                    <a:pt x="5" y="74"/>
                    <a:pt x="5" y="74"/>
                    <a:pt x="5" y="74"/>
                  </a:cubicBezTo>
                  <a:cubicBezTo>
                    <a:pt x="1" y="74"/>
                    <a:pt x="0" y="72"/>
                    <a:pt x="0" y="68"/>
                  </a:cubicBezTo>
                  <a:cubicBezTo>
                    <a:pt x="0" y="63"/>
                    <a:pt x="0" y="63"/>
                    <a:pt x="0" y="63"/>
                  </a:cubicBezTo>
                  <a:cubicBezTo>
                    <a:pt x="0" y="61"/>
                    <a:pt x="0" y="60"/>
                    <a:pt x="1" y="58"/>
                  </a:cubicBezTo>
                  <a:cubicBezTo>
                    <a:pt x="41" y="2"/>
                    <a:pt x="41" y="2"/>
                    <a:pt x="41" y="2"/>
                  </a:cubicBezTo>
                  <a:cubicBezTo>
                    <a:pt x="41" y="1"/>
                    <a:pt x="42" y="0"/>
                    <a:pt x="45" y="0"/>
                  </a:cubicBezTo>
                  <a:cubicBezTo>
                    <a:pt x="52" y="0"/>
                    <a:pt x="52" y="0"/>
                    <a:pt x="52" y="0"/>
                  </a:cubicBezTo>
                  <a:cubicBezTo>
                    <a:pt x="55" y="0"/>
                    <a:pt x="56" y="1"/>
                    <a:pt x="56" y="3"/>
                  </a:cubicBezTo>
                  <a:cubicBezTo>
                    <a:pt x="56" y="63"/>
                    <a:pt x="56" y="63"/>
                    <a:pt x="56" y="63"/>
                  </a:cubicBezTo>
                  <a:cubicBezTo>
                    <a:pt x="68" y="63"/>
                    <a:pt x="68" y="63"/>
                    <a:pt x="68" y="63"/>
                  </a:cubicBezTo>
                  <a:cubicBezTo>
                    <a:pt x="69" y="63"/>
                    <a:pt x="70" y="64"/>
                    <a:pt x="70" y="66"/>
                  </a:cubicBezTo>
                  <a:cubicBezTo>
                    <a:pt x="70" y="71"/>
                    <a:pt x="70" y="71"/>
                    <a:pt x="70" y="71"/>
                  </a:cubicBezTo>
                  <a:cubicBezTo>
                    <a:pt x="70" y="73"/>
                    <a:pt x="69" y="74"/>
                    <a:pt x="68" y="74"/>
                  </a:cubicBezTo>
                  <a:close/>
                  <a:moveTo>
                    <a:pt x="44" y="17"/>
                  </a:moveTo>
                  <a:cubicBezTo>
                    <a:pt x="44" y="17"/>
                    <a:pt x="44" y="17"/>
                    <a:pt x="43" y="17"/>
                  </a:cubicBezTo>
                  <a:cubicBezTo>
                    <a:pt x="43" y="17"/>
                    <a:pt x="43" y="17"/>
                    <a:pt x="43" y="17"/>
                  </a:cubicBezTo>
                  <a:cubicBezTo>
                    <a:pt x="43" y="17"/>
                    <a:pt x="42" y="17"/>
                    <a:pt x="42" y="17"/>
                  </a:cubicBezTo>
                  <a:cubicBezTo>
                    <a:pt x="11" y="61"/>
                    <a:pt x="11" y="61"/>
                    <a:pt x="11" y="61"/>
                  </a:cubicBezTo>
                  <a:cubicBezTo>
                    <a:pt x="11" y="62"/>
                    <a:pt x="11" y="62"/>
                    <a:pt x="11" y="63"/>
                  </a:cubicBezTo>
                  <a:cubicBezTo>
                    <a:pt x="11" y="63"/>
                    <a:pt x="11" y="63"/>
                    <a:pt x="12" y="63"/>
                  </a:cubicBezTo>
                  <a:cubicBezTo>
                    <a:pt x="44" y="63"/>
                    <a:pt x="44" y="63"/>
                    <a:pt x="44" y="63"/>
                  </a:cubicBezTo>
                  <a:lnTo>
                    <a:pt x="44" y="1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291" name="Google Shape;291;p12"/>
            <p:cNvSpPr/>
            <p:nvPr/>
          </p:nvSpPr>
          <p:spPr>
            <a:xfrm>
              <a:off x="7253932" y="1833191"/>
              <a:ext cx="37462" cy="313315"/>
            </a:xfrm>
            <a:custGeom>
              <a:rect b="b" l="l" r="r" t="t"/>
              <a:pathLst>
                <a:path extrusionOk="0" h="96" w="12">
                  <a:moveTo>
                    <a:pt x="11" y="95"/>
                  </a:moveTo>
                  <a:cubicBezTo>
                    <a:pt x="11" y="95"/>
                    <a:pt x="10" y="96"/>
                    <a:pt x="10" y="96"/>
                  </a:cubicBezTo>
                  <a:cubicBezTo>
                    <a:pt x="3" y="96"/>
                    <a:pt x="3" y="96"/>
                    <a:pt x="3" y="96"/>
                  </a:cubicBezTo>
                  <a:cubicBezTo>
                    <a:pt x="2" y="96"/>
                    <a:pt x="1" y="95"/>
                    <a:pt x="1" y="95"/>
                  </a:cubicBezTo>
                  <a:cubicBezTo>
                    <a:pt x="0" y="94"/>
                    <a:pt x="0" y="94"/>
                    <a:pt x="0" y="93"/>
                  </a:cubicBezTo>
                  <a:cubicBezTo>
                    <a:pt x="0" y="2"/>
                    <a:pt x="0" y="2"/>
                    <a:pt x="0" y="2"/>
                  </a:cubicBezTo>
                  <a:cubicBezTo>
                    <a:pt x="0" y="2"/>
                    <a:pt x="0" y="1"/>
                    <a:pt x="1" y="1"/>
                  </a:cubicBezTo>
                  <a:cubicBezTo>
                    <a:pt x="1" y="0"/>
                    <a:pt x="2" y="0"/>
                    <a:pt x="3" y="0"/>
                  </a:cubicBezTo>
                  <a:cubicBezTo>
                    <a:pt x="10" y="0"/>
                    <a:pt x="10" y="0"/>
                    <a:pt x="10" y="0"/>
                  </a:cubicBezTo>
                  <a:cubicBezTo>
                    <a:pt x="10" y="0"/>
                    <a:pt x="11" y="0"/>
                    <a:pt x="11" y="1"/>
                  </a:cubicBezTo>
                  <a:cubicBezTo>
                    <a:pt x="12" y="1"/>
                    <a:pt x="12" y="2"/>
                    <a:pt x="12" y="2"/>
                  </a:cubicBezTo>
                  <a:cubicBezTo>
                    <a:pt x="12" y="93"/>
                    <a:pt x="12" y="93"/>
                    <a:pt x="12" y="93"/>
                  </a:cubicBezTo>
                  <a:cubicBezTo>
                    <a:pt x="12" y="94"/>
                    <a:pt x="12" y="94"/>
                    <a:pt x="11" y="9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292" name="Google Shape;292;p12"/>
            <p:cNvSpPr/>
            <p:nvPr/>
          </p:nvSpPr>
          <p:spPr>
            <a:xfrm>
              <a:off x="7359506" y="1829785"/>
              <a:ext cx="39164" cy="316720"/>
            </a:xfrm>
            <a:custGeom>
              <a:rect b="b" l="l" r="r" t="t"/>
              <a:pathLst>
                <a:path extrusionOk="0" h="97" w="12">
                  <a:moveTo>
                    <a:pt x="11" y="15"/>
                  </a:moveTo>
                  <a:cubicBezTo>
                    <a:pt x="11" y="15"/>
                    <a:pt x="10" y="15"/>
                    <a:pt x="9" y="15"/>
                  </a:cubicBezTo>
                  <a:cubicBezTo>
                    <a:pt x="3" y="15"/>
                    <a:pt x="3" y="15"/>
                    <a:pt x="3" y="15"/>
                  </a:cubicBezTo>
                  <a:cubicBezTo>
                    <a:pt x="2" y="15"/>
                    <a:pt x="1" y="15"/>
                    <a:pt x="1" y="15"/>
                  </a:cubicBezTo>
                  <a:cubicBezTo>
                    <a:pt x="0" y="14"/>
                    <a:pt x="0" y="14"/>
                    <a:pt x="0" y="13"/>
                  </a:cubicBezTo>
                  <a:cubicBezTo>
                    <a:pt x="0" y="3"/>
                    <a:pt x="0" y="3"/>
                    <a:pt x="0" y="3"/>
                  </a:cubicBezTo>
                  <a:cubicBezTo>
                    <a:pt x="0" y="2"/>
                    <a:pt x="0" y="1"/>
                    <a:pt x="1" y="1"/>
                  </a:cubicBezTo>
                  <a:cubicBezTo>
                    <a:pt x="1" y="0"/>
                    <a:pt x="2" y="0"/>
                    <a:pt x="3" y="0"/>
                  </a:cubicBezTo>
                  <a:cubicBezTo>
                    <a:pt x="9" y="0"/>
                    <a:pt x="9" y="0"/>
                    <a:pt x="9" y="0"/>
                  </a:cubicBezTo>
                  <a:cubicBezTo>
                    <a:pt x="10" y="0"/>
                    <a:pt x="11" y="0"/>
                    <a:pt x="11" y="1"/>
                  </a:cubicBezTo>
                  <a:cubicBezTo>
                    <a:pt x="12" y="1"/>
                    <a:pt x="12" y="2"/>
                    <a:pt x="12" y="3"/>
                  </a:cubicBezTo>
                  <a:cubicBezTo>
                    <a:pt x="12" y="13"/>
                    <a:pt x="12" y="13"/>
                    <a:pt x="12" y="13"/>
                  </a:cubicBezTo>
                  <a:cubicBezTo>
                    <a:pt x="12" y="14"/>
                    <a:pt x="12" y="14"/>
                    <a:pt x="11" y="15"/>
                  </a:cubicBezTo>
                  <a:close/>
                  <a:moveTo>
                    <a:pt x="11" y="96"/>
                  </a:moveTo>
                  <a:cubicBezTo>
                    <a:pt x="10" y="96"/>
                    <a:pt x="10" y="97"/>
                    <a:pt x="9" y="97"/>
                  </a:cubicBezTo>
                  <a:cubicBezTo>
                    <a:pt x="3" y="97"/>
                    <a:pt x="3" y="97"/>
                    <a:pt x="3" y="97"/>
                  </a:cubicBezTo>
                  <a:cubicBezTo>
                    <a:pt x="2" y="97"/>
                    <a:pt x="1" y="96"/>
                    <a:pt x="1" y="96"/>
                  </a:cubicBezTo>
                  <a:cubicBezTo>
                    <a:pt x="0" y="95"/>
                    <a:pt x="0" y="95"/>
                    <a:pt x="0" y="94"/>
                  </a:cubicBezTo>
                  <a:cubicBezTo>
                    <a:pt x="0" y="29"/>
                    <a:pt x="0" y="29"/>
                    <a:pt x="0" y="29"/>
                  </a:cubicBezTo>
                  <a:cubicBezTo>
                    <a:pt x="0" y="28"/>
                    <a:pt x="0" y="28"/>
                    <a:pt x="1" y="27"/>
                  </a:cubicBezTo>
                  <a:cubicBezTo>
                    <a:pt x="1" y="27"/>
                    <a:pt x="2" y="27"/>
                    <a:pt x="3" y="27"/>
                  </a:cubicBezTo>
                  <a:cubicBezTo>
                    <a:pt x="9" y="27"/>
                    <a:pt x="9" y="27"/>
                    <a:pt x="9" y="27"/>
                  </a:cubicBezTo>
                  <a:cubicBezTo>
                    <a:pt x="10" y="27"/>
                    <a:pt x="10" y="27"/>
                    <a:pt x="11" y="27"/>
                  </a:cubicBezTo>
                  <a:cubicBezTo>
                    <a:pt x="11" y="28"/>
                    <a:pt x="12" y="28"/>
                    <a:pt x="12" y="29"/>
                  </a:cubicBezTo>
                  <a:cubicBezTo>
                    <a:pt x="12" y="94"/>
                    <a:pt x="12" y="94"/>
                    <a:pt x="12" y="94"/>
                  </a:cubicBezTo>
                  <a:cubicBezTo>
                    <a:pt x="12" y="95"/>
                    <a:pt x="11" y="95"/>
                    <a:pt x="11" y="9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293" name="Google Shape;293;p12"/>
            <p:cNvSpPr/>
            <p:nvPr/>
          </p:nvSpPr>
          <p:spPr>
            <a:xfrm>
              <a:off x="7453160" y="1833191"/>
              <a:ext cx="183902" cy="316720"/>
            </a:xfrm>
            <a:custGeom>
              <a:rect b="b" l="l" r="r" t="t"/>
              <a:pathLst>
                <a:path extrusionOk="0" h="97" w="57">
                  <a:moveTo>
                    <a:pt x="56" y="93"/>
                  </a:moveTo>
                  <a:cubicBezTo>
                    <a:pt x="56" y="94"/>
                    <a:pt x="55" y="94"/>
                    <a:pt x="54" y="94"/>
                  </a:cubicBezTo>
                  <a:cubicBezTo>
                    <a:pt x="50" y="95"/>
                    <a:pt x="46" y="96"/>
                    <a:pt x="41" y="96"/>
                  </a:cubicBezTo>
                  <a:cubicBezTo>
                    <a:pt x="37" y="96"/>
                    <a:pt x="33" y="97"/>
                    <a:pt x="29" y="97"/>
                  </a:cubicBezTo>
                  <a:cubicBezTo>
                    <a:pt x="24" y="97"/>
                    <a:pt x="20" y="96"/>
                    <a:pt x="16" y="94"/>
                  </a:cubicBezTo>
                  <a:cubicBezTo>
                    <a:pt x="13" y="93"/>
                    <a:pt x="10" y="91"/>
                    <a:pt x="7" y="88"/>
                  </a:cubicBezTo>
                  <a:cubicBezTo>
                    <a:pt x="5" y="85"/>
                    <a:pt x="3" y="82"/>
                    <a:pt x="2" y="78"/>
                  </a:cubicBezTo>
                  <a:cubicBezTo>
                    <a:pt x="1" y="74"/>
                    <a:pt x="0" y="70"/>
                    <a:pt x="0" y="65"/>
                  </a:cubicBezTo>
                  <a:cubicBezTo>
                    <a:pt x="0" y="56"/>
                    <a:pt x="0" y="56"/>
                    <a:pt x="0" y="56"/>
                  </a:cubicBezTo>
                  <a:cubicBezTo>
                    <a:pt x="0" y="46"/>
                    <a:pt x="3" y="38"/>
                    <a:pt x="7" y="33"/>
                  </a:cubicBezTo>
                  <a:cubicBezTo>
                    <a:pt x="12" y="27"/>
                    <a:pt x="19" y="25"/>
                    <a:pt x="29" y="25"/>
                  </a:cubicBezTo>
                  <a:cubicBezTo>
                    <a:pt x="31" y="25"/>
                    <a:pt x="34" y="25"/>
                    <a:pt x="37" y="25"/>
                  </a:cubicBezTo>
                  <a:cubicBezTo>
                    <a:pt x="40" y="25"/>
                    <a:pt x="42" y="26"/>
                    <a:pt x="45" y="26"/>
                  </a:cubicBezTo>
                  <a:cubicBezTo>
                    <a:pt x="45" y="2"/>
                    <a:pt x="45" y="2"/>
                    <a:pt x="45" y="2"/>
                  </a:cubicBezTo>
                  <a:cubicBezTo>
                    <a:pt x="45" y="2"/>
                    <a:pt x="45" y="1"/>
                    <a:pt x="46" y="1"/>
                  </a:cubicBezTo>
                  <a:cubicBezTo>
                    <a:pt x="46" y="0"/>
                    <a:pt x="47" y="0"/>
                    <a:pt x="47" y="0"/>
                  </a:cubicBezTo>
                  <a:cubicBezTo>
                    <a:pt x="54" y="0"/>
                    <a:pt x="54" y="0"/>
                    <a:pt x="54" y="0"/>
                  </a:cubicBezTo>
                  <a:cubicBezTo>
                    <a:pt x="55" y="0"/>
                    <a:pt x="56" y="0"/>
                    <a:pt x="56" y="1"/>
                  </a:cubicBezTo>
                  <a:cubicBezTo>
                    <a:pt x="56" y="1"/>
                    <a:pt x="57" y="2"/>
                    <a:pt x="57" y="2"/>
                  </a:cubicBezTo>
                  <a:cubicBezTo>
                    <a:pt x="57" y="91"/>
                    <a:pt x="57" y="91"/>
                    <a:pt x="57" y="91"/>
                  </a:cubicBezTo>
                  <a:cubicBezTo>
                    <a:pt x="57" y="92"/>
                    <a:pt x="57" y="93"/>
                    <a:pt x="56" y="93"/>
                  </a:cubicBezTo>
                  <a:close/>
                  <a:moveTo>
                    <a:pt x="45" y="35"/>
                  </a:moveTo>
                  <a:cubicBezTo>
                    <a:pt x="43" y="35"/>
                    <a:pt x="40" y="35"/>
                    <a:pt x="37" y="35"/>
                  </a:cubicBezTo>
                  <a:cubicBezTo>
                    <a:pt x="34" y="35"/>
                    <a:pt x="31" y="35"/>
                    <a:pt x="29" y="35"/>
                  </a:cubicBezTo>
                  <a:cubicBezTo>
                    <a:pt x="23" y="35"/>
                    <a:pt x="18" y="36"/>
                    <a:pt x="16" y="40"/>
                  </a:cubicBezTo>
                  <a:cubicBezTo>
                    <a:pt x="13" y="44"/>
                    <a:pt x="12" y="49"/>
                    <a:pt x="12" y="56"/>
                  </a:cubicBezTo>
                  <a:cubicBezTo>
                    <a:pt x="12" y="65"/>
                    <a:pt x="12" y="65"/>
                    <a:pt x="12" y="65"/>
                  </a:cubicBezTo>
                  <a:cubicBezTo>
                    <a:pt x="12" y="72"/>
                    <a:pt x="13" y="77"/>
                    <a:pt x="16" y="81"/>
                  </a:cubicBezTo>
                  <a:cubicBezTo>
                    <a:pt x="18" y="85"/>
                    <a:pt x="23" y="87"/>
                    <a:pt x="29" y="87"/>
                  </a:cubicBezTo>
                  <a:cubicBezTo>
                    <a:pt x="32" y="87"/>
                    <a:pt x="34" y="87"/>
                    <a:pt x="37" y="86"/>
                  </a:cubicBezTo>
                  <a:cubicBezTo>
                    <a:pt x="40" y="86"/>
                    <a:pt x="43" y="86"/>
                    <a:pt x="45" y="86"/>
                  </a:cubicBezTo>
                  <a:lnTo>
                    <a:pt x="45" y="3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294" name="Google Shape;294;p12"/>
            <p:cNvSpPr/>
            <p:nvPr/>
          </p:nvSpPr>
          <p:spPr>
            <a:xfrm>
              <a:off x="7684741" y="1914925"/>
              <a:ext cx="194119" cy="234986"/>
            </a:xfrm>
            <a:custGeom>
              <a:rect b="b" l="l" r="r" t="t"/>
              <a:pathLst>
                <a:path extrusionOk="0" h="72" w="60">
                  <a:moveTo>
                    <a:pt x="57" y="39"/>
                  </a:moveTo>
                  <a:cubicBezTo>
                    <a:pt x="12" y="39"/>
                    <a:pt x="12" y="39"/>
                    <a:pt x="12" y="39"/>
                  </a:cubicBezTo>
                  <a:cubicBezTo>
                    <a:pt x="12" y="41"/>
                    <a:pt x="12" y="41"/>
                    <a:pt x="12" y="41"/>
                  </a:cubicBezTo>
                  <a:cubicBezTo>
                    <a:pt x="12" y="49"/>
                    <a:pt x="14" y="54"/>
                    <a:pt x="17" y="57"/>
                  </a:cubicBezTo>
                  <a:cubicBezTo>
                    <a:pt x="20" y="60"/>
                    <a:pt x="25" y="62"/>
                    <a:pt x="31" y="62"/>
                  </a:cubicBezTo>
                  <a:cubicBezTo>
                    <a:pt x="35" y="62"/>
                    <a:pt x="39" y="62"/>
                    <a:pt x="43" y="61"/>
                  </a:cubicBezTo>
                  <a:cubicBezTo>
                    <a:pt x="48" y="61"/>
                    <a:pt x="51" y="61"/>
                    <a:pt x="55" y="60"/>
                  </a:cubicBezTo>
                  <a:cubicBezTo>
                    <a:pt x="55" y="60"/>
                    <a:pt x="55" y="60"/>
                    <a:pt x="55" y="60"/>
                  </a:cubicBezTo>
                  <a:cubicBezTo>
                    <a:pt x="56" y="60"/>
                    <a:pt x="56" y="60"/>
                    <a:pt x="57" y="61"/>
                  </a:cubicBezTo>
                  <a:cubicBezTo>
                    <a:pt x="57" y="61"/>
                    <a:pt x="57" y="61"/>
                    <a:pt x="57" y="62"/>
                  </a:cubicBezTo>
                  <a:cubicBezTo>
                    <a:pt x="57" y="66"/>
                    <a:pt x="57" y="66"/>
                    <a:pt x="57" y="66"/>
                  </a:cubicBezTo>
                  <a:cubicBezTo>
                    <a:pt x="57" y="67"/>
                    <a:pt x="57" y="68"/>
                    <a:pt x="57" y="68"/>
                  </a:cubicBezTo>
                  <a:cubicBezTo>
                    <a:pt x="56" y="69"/>
                    <a:pt x="56" y="69"/>
                    <a:pt x="55" y="69"/>
                  </a:cubicBezTo>
                  <a:cubicBezTo>
                    <a:pt x="51" y="70"/>
                    <a:pt x="47" y="71"/>
                    <a:pt x="43" y="71"/>
                  </a:cubicBezTo>
                  <a:cubicBezTo>
                    <a:pt x="39" y="71"/>
                    <a:pt x="35" y="72"/>
                    <a:pt x="31" y="72"/>
                  </a:cubicBezTo>
                  <a:cubicBezTo>
                    <a:pt x="27" y="72"/>
                    <a:pt x="23" y="71"/>
                    <a:pt x="20" y="70"/>
                  </a:cubicBezTo>
                  <a:cubicBezTo>
                    <a:pt x="16" y="69"/>
                    <a:pt x="13" y="67"/>
                    <a:pt x="10" y="65"/>
                  </a:cubicBezTo>
                  <a:cubicBezTo>
                    <a:pt x="7" y="63"/>
                    <a:pt x="5" y="60"/>
                    <a:pt x="3" y="56"/>
                  </a:cubicBezTo>
                  <a:cubicBezTo>
                    <a:pt x="1" y="52"/>
                    <a:pt x="0" y="47"/>
                    <a:pt x="0" y="41"/>
                  </a:cubicBezTo>
                  <a:cubicBezTo>
                    <a:pt x="0" y="29"/>
                    <a:pt x="0" y="29"/>
                    <a:pt x="0" y="29"/>
                  </a:cubicBezTo>
                  <a:cubicBezTo>
                    <a:pt x="0" y="20"/>
                    <a:pt x="3" y="13"/>
                    <a:pt x="8" y="8"/>
                  </a:cubicBezTo>
                  <a:cubicBezTo>
                    <a:pt x="13" y="2"/>
                    <a:pt x="20" y="0"/>
                    <a:pt x="30" y="0"/>
                  </a:cubicBezTo>
                  <a:cubicBezTo>
                    <a:pt x="35" y="0"/>
                    <a:pt x="39" y="0"/>
                    <a:pt x="43" y="2"/>
                  </a:cubicBezTo>
                  <a:cubicBezTo>
                    <a:pt x="47" y="3"/>
                    <a:pt x="50" y="5"/>
                    <a:pt x="52" y="8"/>
                  </a:cubicBezTo>
                  <a:cubicBezTo>
                    <a:pt x="55" y="10"/>
                    <a:pt x="56" y="14"/>
                    <a:pt x="58" y="17"/>
                  </a:cubicBezTo>
                  <a:cubicBezTo>
                    <a:pt x="59" y="21"/>
                    <a:pt x="60" y="25"/>
                    <a:pt x="60" y="29"/>
                  </a:cubicBezTo>
                  <a:cubicBezTo>
                    <a:pt x="60" y="36"/>
                    <a:pt x="60" y="36"/>
                    <a:pt x="60" y="36"/>
                  </a:cubicBezTo>
                  <a:cubicBezTo>
                    <a:pt x="60" y="38"/>
                    <a:pt x="59" y="39"/>
                    <a:pt x="57" y="39"/>
                  </a:cubicBezTo>
                  <a:close/>
                  <a:moveTo>
                    <a:pt x="48" y="29"/>
                  </a:moveTo>
                  <a:cubicBezTo>
                    <a:pt x="48" y="22"/>
                    <a:pt x="46" y="17"/>
                    <a:pt x="43" y="14"/>
                  </a:cubicBezTo>
                  <a:cubicBezTo>
                    <a:pt x="40" y="11"/>
                    <a:pt x="36" y="10"/>
                    <a:pt x="30" y="10"/>
                  </a:cubicBezTo>
                  <a:cubicBezTo>
                    <a:pt x="24" y="10"/>
                    <a:pt x="20" y="11"/>
                    <a:pt x="17" y="14"/>
                  </a:cubicBezTo>
                  <a:cubicBezTo>
                    <a:pt x="14" y="18"/>
                    <a:pt x="12" y="23"/>
                    <a:pt x="12" y="29"/>
                  </a:cubicBezTo>
                  <a:cubicBezTo>
                    <a:pt x="12" y="31"/>
                    <a:pt x="12" y="31"/>
                    <a:pt x="12" y="31"/>
                  </a:cubicBezTo>
                  <a:cubicBezTo>
                    <a:pt x="48" y="31"/>
                    <a:pt x="48" y="31"/>
                    <a:pt x="48" y="31"/>
                  </a:cubicBezTo>
                  <a:lnTo>
                    <a:pt x="48" y="2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295" name="Google Shape;295;p12"/>
            <p:cNvSpPr/>
            <p:nvPr/>
          </p:nvSpPr>
          <p:spPr>
            <a:xfrm>
              <a:off x="7919727" y="1914925"/>
              <a:ext cx="158360" cy="234986"/>
            </a:xfrm>
            <a:custGeom>
              <a:rect b="b" l="l" r="r" t="t"/>
              <a:pathLst>
                <a:path extrusionOk="0" h="72" w="49">
                  <a:moveTo>
                    <a:pt x="49" y="53"/>
                  </a:moveTo>
                  <a:cubicBezTo>
                    <a:pt x="49" y="59"/>
                    <a:pt x="47" y="64"/>
                    <a:pt x="42" y="67"/>
                  </a:cubicBezTo>
                  <a:cubicBezTo>
                    <a:pt x="38" y="70"/>
                    <a:pt x="32" y="72"/>
                    <a:pt x="24" y="72"/>
                  </a:cubicBezTo>
                  <a:cubicBezTo>
                    <a:pt x="23" y="72"/>
                    <a:pt x="21" y="71"/>
                    <a:pt x="20" y="71"/>
                  </a:cubicBezTo>
                  <a:cubicBezTo>
                    <a:pt x="18" y="71"/>
                    <a:pt x="16" y="71"/>
                    <a:pt x="14" y="71"/>
                  </a:cubicBezTo>
                  <a:cubicBezTo>
                    <a:pt x="12" y="71"/>
                    <a:pt x="10" y="71"/>
                    <a:pt x="8" y="70"/>
                  </a:cubicBezTo>
                  <a:cubicBezTo>
                    <a:pt x="6" y="70"/>
                    <a:pt x="5" y="70"/>
                    <a:pt x="3" y="70"/>
                  </a:cubicBezTo>
                  <a:cubicBezTo>
                    <a:pt x="1" y="69"/>
                    <a:pt x="0" y="68"/>
                    <a:pt x="0" y="67"/>
                  </a:cubicBezTo>
                  <a:cubicBezTo>
                    <a:pt x="0" y="63"/>
                    <a:pt x="0" y="63"/>
                    <a:pt x="0" y="63"/>
                  </a:cubicBezTo>
                  <a:cubicBezTo>
                    <a:pt x="0" y="62"/>
                    <a:pt x="0" y="62"/>
                    <a:pt x="1" y="61"/>
                  </a:cubicBezTo>
                  <a:cubicBezTo>
                    <a:pt x="1" y="61"/>
                    <a:pt x="2" y="61"/>
                    <a:pt x="3" y="61"/>
                  </a:cubicBezTo>
                  <a:cubicBezTo>
                    <a:pt x="3" y="61"/>
                    <a:pt x="3" y="61"/>
                    <a:pt x="3" y="61"/>
                  </a:cubicBezTo>
                  <a:cubicBezTo>
                    <a:pt x="5" y="61"/>
                    <a:pt x="6" y="61"/>
                    <a:pt x="8" y="61"/>
                  </a:cubicBezTo>
                  <a:cubicBezTo>
                    <a:pt x="10" y="61"/>
                    <a:pt x="12" y="62"/>
                    <a:pt x="14" y="62"/>
                  </a:cubicBezTo>
                  <a:cubicBezTo>
                    <a:pt x="16" y="62"/>
                    <a:pt x="18" y="62"/>
                    <a:pt x="20" y="62"/>
                  </a:cubicBezTo>
                  <a:cubicBezTo>
                    <a:pt x="21" y="62"/>
                    <a:pt x="23" y="62"/>
                    <a:pt x="24" y="62"/>
                  </a:cubicBezTo>
                  <a:cubicBezTo>
                    <a:pt x="28" y="62"/>
                    <a:pt x="32" y="61"/>
                    <a:pt x="34" y="60"/>
                  </a:cubicBezTo>
                  <a:cubicBezTo>
                    <a:pt x="36" y="59"/>
                    <a:pt x="37" y="57"/>
                    <a:pt x="37" y="53"/>
                  </a:cubicBezTo>
                  <a:cubicBezTo>
                    <a:pt x="37" y="51"/>
                    <a:pt x="37" y="49"/>
                    <a:pt x="35" y="48"/>
                  </a:cubicBezTo>
                  <a:cubicBezTo>
                    <a:pt x="34" y="47"/>
                    <a:pt x="31" y="45"/>
                    <a:pt x="27" y="42"/>
                  </a:cubicBezTo>
                  <a:cubicBezTo>
                    <a:pt x="14" y="35"/>
                    <a:pt x="14" y="35"/>
                    <a:pt x="14" y="35"/>
                  </a:cubicBezTo>
                  <a:cubicBezTo>
                    <a:pt x="10" y="32"/>
                    <a:pt x="6" y="30"/>
                    <a:pt x="4" y="27"/>
                  </a:cubicBezTo>
                  <a:cubicBezTo>
                    <a:pt x="1" y="24"/>
                    <a:pt x="0" y="21"/>
                    <a:pt x="0" y="17"/>
                  </a:cubicBezTo>
                  <a:cubicBezTo>
                    <a:pt x="0" y="13"/>
                    <a:pt x="1" y="11"/>
                    <a:pt x="2" y="8"/>
                  </a:cubicBezTo>
                  <a:cubicBezTo>
                    <a:pt x="3" y="6"/>
                    <a:pt x="5" y="5"/>
                    <a:pt x="7" y="3"/>
                  </a:cubicBezTo>
                  <a:cubicBezTo>
                    <a:pt x="9" y="2"/>
                    <a:pt x="12" y="1"/>
                    <a:pt x="15" y="0"/>
                  </a:cubicBezTo>
                  <a:cubicBezTo>
                    <a:pt x="18" y="0"/>
                    <a:pt x="21" y="0"/>
                    <a:pt x="24" y="0"/>
                  </a:cubicBezTo>
                  <a:cubicBezTo>
                    <a:pt x="28" y="0"/>
                    <a:pt x="32" y="0"/>
                    <a:pt x="35" y="0"/>
                  </a:cubicBezTo>
                  <a:cubicBezTo>
                    <a:pt x="39" y="0"/>
                    <a:pt x="42" y="1"/>
                    <a:pt x="45" y="1"/>
                  </a:cubicBezTo>
                  <a:cubicBezTo>
                    <a:pt x="47" y="2"/>
                    <a:pt x="48" y="2"/>
                    <a:pt x="48" y="4"/>
                  </a:cubicBezTo>
                  <a:cubicBezTo>
                    <a:pt x="48" y="8"/>
                    <a:pt x="48" y="8"/>
                    <a:pt x="48" y="8"/>
                  </a:cubicBezTo>
                  <a:cubicBezTo>
                    <a:pt x="48" y="10"/>
                    <a:pt x="47" y="10"/>
                    <a:pt x="45" y="10"/>
                  </a:cubicBezTo>
                  <a:cubicBezTo>
                    <a:pt x="45" y="10"/>
                    <a:pt x="45" y="10"/>
                    <a:pt x="45" y="10"/>
                  </a:cubicBezTo>
                  <a:cubicBezTo>
                    <a:pt x="43" y="10"/>
                    <a:pt x="40" y="10"/>
                    <a:pt x="36" y="10"/>
                  </a:cubicBezTo>
                  <a:cubicBezTo>
                    <a:pt x="32" y="9"/>
                    <a:pt x="28" y="9"/>
                    <a:pt x="24" y="9"/>
                  </a:cubicBezTo>
                  <a:cubicBezTo>
                    <a:pt x="21" y="9"/>
                    <a:pt x="18" y="10"/>
                    <a:pt x="15" y="11"/>
                  </a:cubicBezTo>
                  <a:cubicBezTo>
                    <a:pt x="13" y="11"/>
                    <a:pt x="12" y="13"/>
                    <a:pt x="12" y="17"/>
                  </a:cubicBezTo>
                  <a:cubicBezTo>
                    <a:pt x="12" y="19"/>
                    <a:pt x="13" y="20"/>
                    <a:pt x="14" y="22"/>
                  </a:cubicBezTo>
                  <a:cubicBezTo>
                    <a:pt x="16" y="23"/>
                    <a:pt x="18" y="25"/>
                    <a:pt x="21" y="26"/>
                  </a:cubicBezTo>
                  <a:cubicBezTo>
                    <a:pt x="34" y="34"/>
                    <a:pt x="34" y="34"/>
                    <a:pt x="34" y="34"/>
                  </a:cubicBezTo>
                  <a:cubicBezTo>
                    <a:pt x="40" y="37"/>
                    <a:pt x="44" y="40"/>
                    <a:pt x="46" y="43"/>
                  </a:cubicBezTo>
                  <a:cubicBezTo>
                    <a:pt x="48" y="46"/>
                    <a:pt x="49" y="49"/>
                    <a:pt x="49" y="5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296" name="Google Shape;296;p12"/>
            <p:cNvSpPr/>
            <p:nvPr/>
          </p:nvSpPr>
          <p:spPr>
            <a:xfrm>
              <a:off x="7001918" y="2110746"/>
              <a:ext cx="177091" cy="35759"/>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FFFFFF"/>
                </a:solidFill>
                <a:latin typeface="Calibri"/>
                <a:ea typeface="Calibri"/>
                <a:cs typeface="Calibri"/>
                <a:sym typeface="Calibri"/>
              </a:endParaRPr>
            </a:p>
          </p:txBody>
        </p:sp>
        <p:sp>
          <p:nvSpPr>
            <p:cNvPr id="297" name="Google Shape;297;p12"/>
            <p:cNvSpPr/>
            <p:nvPr/>
          </p:nvSpPr>
          <p:spPr>
            <a:xfrm>
              <a:off x="7012135" y="1833191"/>
              <a:ext cx="180497" cy="313315"/>
            </a:xfrm>
            <a:custGeom>
              <a:rect b="b" l="l" r="r" t="t"/>
              <a:pathLst>
                <a:path extrusionOk="0" h="96" w="56">
                  <a:moveTo>
                    <a:pt x="7" y="5"/>
                  </a:moveTo>
                  <a:cubicBezTo>
                    <a:pt x="12" y="2"/>
                    <a:pt x="19" y="0"/>
                    <a:pt x="30" y="0"/>
                  </a:cubicBezTo>
                  <a:cubicBezTo>
                    <a:pt x="33" y="0"/>
                    <a:pt x="37" y="0"/>
                    <a:pt x="41" y="0"/>
                  </a:cubicBezTo>
                  <a:cubicBezTo>
                    <a:pt x="45" y="1"/>
                    <a:pt x="49" y="1"/>
                    <a:pt x="52" y="2"/>
                  </a:cubicBezTo>
                  <a:cubicBezTo>
                    <a:pt x="53" y="3"/>
                    <a:pt x="53" y="3"/>
                    <a:pt x="54" y="3"/>
                  </a:cubicBezTo>
                  <a:cubicBezTo>
                    <a:pt x="54" y="3"/>
                    <a:pt x="54" y="4"/>
                    <a:pt x="54" y="5"/>
                  </a:cubicBezTo>
                  <a:cubicBezTo>
                    <a:pt x="54" y="9"/>
                    <a:pt x="54" y="9"/>
                    <a:pt x="54" y="9"/>
                  </a:cubicBezTo>
                  <a:cubicBezTo>
                    <a:pt x="54" y="11"/>
                    <a:pt x="54" y="12"/>
                    <a:pt x="52" y="12"/>
                  </a:cubicBezTo>
                  <a:cubicBezTo>
                    <a:pt x="52" y="12"/>
                    <a:pt x="52" y="12"/>
                    <a:pt x="52" y="12"/>
                  </a:cubicBezTo>
                  <a:cubicBezTo>
                    <a:pt x="48" y="11"/>
                    <a:pt x="45" y="11"/>
                    <a:pt x="41" y="10"/>
                  </a:cubicBezTo>
                  <a:cubicBezTo>
                    <a:pt x="37" y="10"/>
                    <a:pt x="33" y="10"/>
                    <a:pt x="30" y="10"/>
                  </a:cubicBezTo>
                  <a:cubicBezTo>
                    <a:pt x="23" y="10"/>
                    <a:pt x="18" y="11"/>
                    <a:pt x="15" y="13"/>
                  </a:cubicBezTo>
                  <a:cubicBezTo>
                    <a:pt x="12" y="15"/>
                    <a:pt x="11" y="18"/>
                    <a:pt x="11" y="23"/>
                  </a:cubicBezTo>
                  <a:cubicBezTo>
                    <a:pt x="11" y="25"/>
                    <a:pt x="11" y="26"/>
                    <a:pt x="11" y="28"/>
                  </a:cubicBezTo>
                  <a:cubicBezTo>
                    <a:pt x="12" y="29"/>
                    <a:pt x="12" y="31"/>
                    <a:pt x="13" y="32"/>
                  </a:cubicBezTo>
                  <a:cubicBezTo>
                    <a:pt x="14" y="33"/>
                    <a:pt x="16" y="35"/>
                    <a:pt x="17" y="36"/>
                  </a:cubicBezTo>
                  <a:cubicBezTo>
                    <a:pt x="19" y="37"/>
                    <a:pt x="21" y="39"/>
                    <a:pt x="24" y="41"/>
                  </a:cubicBezTo>
                  <a:cubicBezTo>
                    <a:pt x="36" y="49"/>
                    <a:pt x="36" y="49"/>
                    <a:pt x="36" y="49"/>
                  </a:cubicBezTo>
                  <a:cubicBezTo>
                    <a:pt x="43" y="54"/>
                    <a:pt x="48" y="59"/>
                    <a:pt x="51" y="65"/>
                  </a:cubicBezTo>
                  <a:cubicBezTo>
                    <a:pt x="54" y="70"/>
                    <a:pt x="56" y="76"/>
                    <a:pt x="56" y="83"/>
                  </a:cubicBezTo>
                  <a:cubicBezTo>
                    <a:pt x="56" y="93"/>
                    <a:pt x="56" y="93"/>
                    <a:pt x="56" y="93"/>
                  </a:cubicBezTo>
                  <a:cubicBezTo>
                    <a:pt x="56" y="94"/>
                    <a:pt x="56" y="94"/>
                    <a:pt x="55" y="95"/>
                  </a:cubicBezTo>
                  <a:cubicBezTo>
                    <a:pt x="55" y="95"/>
                    <a:pt x="54" y="96"/>
                    <a:pt x="53" y="96"/>
                  </a:cubicBezTo>
                  <a:cubicBezTo>
                    <a:pt x="3" y="96"/>
                    <a:pt x="3" y="96"/>
                    <a:pt x="3" y="96"/>
                  </a:cubicBezTo>
                  <a:cubicBezTo>
                    <a:pt x="3" y="96"/>
                    <a:pt x="2" y="95"/>
                    <a:pt x="2" y="95"/>
                  </a:cubicBezTo>
                  <a:cubicBezTo>
                    <a:pt x="1" y="94"/>
                    <a:pt x="1" y="94"/>
                    <a:pt x="1" y="93"/>
                  </a:cubicBezTo>
                  <a:cubicBezTo>
                    <a:pt x="1" y="88"/>
                    <a:pt x="1" y="88"/>
                    <a:pt x="1" y="88"/>
                  </a:cubicBezTo>
                  <a:cubicBezTo>
                    <a:pt x="1" y="87"/>
                    <a:pt x="1" y="86"/>
                    <a:pt x="2" y="86"/>
                  </a:cubicBezTo>
                  <a:cubicBezTo>
                    <a:pt x="2" y="86"/>
                    <a:pt x="3" y="85"/>
                    <a:pt x="3" y="85"/>
                  </a:cubicBezTo>
                  <a:cubicBezTo>
                    <a:pt x="46" y="85"/>
                    <a:pt x="46" y="85"/>
                    <a:pt x="46" y="85"/>
                  </a:cubicBezTo>
                  <a:cubicBezTo>
                    <a:pt x="46" y="83"/>
                    <a:pt x="46" y="83"/>
                    <a:pt x="46" y="83"/>
                  </a:cubicBezTo>
                  <a:cubicBezTo>
                    <a:pt x="46" y="80"/>
                    <a:pt x="46" y="77"/>
                    <a:pt x="45" y="75"/>
                  </a:cubicBezTo>
                  <a:cubicBezTo>
                    <a:pt x="44" y="73"/>
                    <a:pt x="44" y="71"/>
                    <a:pt x="42" y="69"/>
                  </a:cubicBezTo>
                  <a:cubicBezTo>
                    <a:pt x="41" y="66"/>
                    <a:pt x="39" y="64"/>
                    <a:pt x="37" y="62"/>
                  </a:cubicBezTo>
                  <a:cubicBezTo>
                    <a:pt x="35" y="60"/>
                    <a:pt x="32" y="58"/>
                    <a:pt x="28" y="56"/>
                  </a:cubicBezTo>
                  <a:cubicBezTo>
                    <a:pt x="16" y="47"/>
                    <a:pt x="16" y="47"/>
                    <a:pt x="16" y="47"/>
                  </a:cubicBezTo>
                  <a:cubicBezTo>
                    <a:pt x="10" y="43"/>
                    <a:pt x="6" y="39"/>
                    <a:pt x="3" y="36"/>
                  </a:cubicBezTo>
                  <a:cubicBezTo>
                    <a:pt x="1" y="32"/>
                    <a:pt x="0" y="28"/>
                    <a:pt x="0" y="23"/>
                  </a:cubicBezTo>
                  <a:cubicBezTo>
                    <a:pt x="0" y="15"/>
                    <a:pt x="2" y="9"/>
                    <a:pt x="7" y="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600" u="none" cap="none" strike="noStrike">
                <a:solidFill>
                  <a:srgbClr val="FFFFFF"/>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2020-09-22T04:48:20Z</dcterms:created>
  <dc:creator>it 24slides3</dc:creator>
</cp:coreProperties>
</file>